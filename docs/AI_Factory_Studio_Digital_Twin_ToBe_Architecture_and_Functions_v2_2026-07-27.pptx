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AI Factory Studio의 최종 제품 방향을 정리한 To-Be 설명 자료입니다. 핵심은 단순한 코드 생성이 아니라, 실제 업무 데이터를 기준으로 회사의 현재와 미래를 계산하고 경영자의 의사결정을 보조하는 디지털트윈 플랫폼으로 진화하는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페이지의 질문들은 최종 사용자, 즉 경영자가 시스템에 던지는 질문의 예입니다. 중요한 점은 답이 한 줄의 예측 숫자가 아니라는 것입니다. 결과는 어떤 데이터 시점에서 나왔고, 어떤 가정과 계산식이 적용됐으며, 무엇이 가장 큰 영향을 주는지까지 함께 보여야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시스템은 AI 에이전트로 소프트웨어를 기획·생성·검토하는 통제 계층이 가장 앞서 있습니다. 앞으로의 가장 큰 과제는 생성 결과를 실제 현업의 운영 시스템으로 만들고, 공통 데이터와 권한을 통해 부서와 전사를 연결하는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구조가 우리 시스템의 최종 참조 아키텍처입니다. 하단의 원천 데이터가 MDM과 카탈로그·품질·계보로 통제되고, 운영 데이터와 앱으로 업무가 실행됩니다. 그 위에서 AI와 경영 의사결정이 작동합니다. 현재 시스템은 5번 계층이 강하고 2~4번의 구현이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분리는 매우 중요합니다. 실제값은 원천과 정산 상태를 가지며, 예측값은 모델 버전과 오차를, 시나리오 값은 사용자가 바꾼 가정과 승인 이력을 가져야 합니다. 같은 화면에서 비교할 수는 있지만 저장과 계산의 의미는 절대 섞이면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실증은 수주에서 손익까지 이어지는 제조 가치흐름입니다. 이 흐름은 영업, 생산, 구매·물류, 품질, 재무가 함께 참여해야 합니다. 전기료, 수요, 인력, 수율 등 변수를 바꾸면 운영 결과와 재무 결과가 함께 변해야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앞선 논의에서 강조한 데이터 카탈로그는 MDM이나 Graph RAG의 대체재가 아닙니다. MDM은 기준값, 카탈로그는 데이터 자산의 발견과 통제, 품질·계보는 신뢰, Graph RAG는 영향 관계 탐색을 담당합니다. 이 네 축이 함께 있어야 AI가 신뢰할 만한 근거를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카탈로그의 첫 구현은 단순 목록 화면이 아닙니다. 데이터 자산의 구조, 업무 의미, 오너, 품질, 권한, 계보, 소비자와 계약을 함께 관리해야 합니다. 이를 통해 생성 앱과 AI가 임의 데이터가 아니라 승인된 데이터 계약을 사용하도록 강제합니다.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생성 앱은 산출물과 릴리스 중심입니다. 전사 운영 플랫폼이 되려면 앱 등록, 환경 분리, 배포와 롤백, 공통 업무 API, 부서 간 워크 인박스가 필요합니다. 특히 앱마다 독립 DB를 만들면 전사 통합이 어려워지므로 데이터 계약을 반드시 강제해야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슈퍼바이저는 특정 Task ID를 물고 있어야만 대화하는 봇이 아니라 전사 상태를 이해하는 운영 보조자여야 합니다. 다만 무엇이든 실행하는 자유 에이전트가 아니라, 권한이 있는 데이터와 승인된 도구만 사용하며 모든 조치를 감사 가능하게 남기는 구조여야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결코 배제 대상이 아닙니다. 오히려 시나리오 설계, 요구 해석, 근거 검색, 설명, 코드 생성에 매우 강합니다. 다만 전기료가 오르면 손익이 얼마인지 계산하는 진실 원천은 수리 모델과 실제 데이터여야 합니다. 이것이 비용과 신뢰성을 동시에 확보하는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비용 최적화는 무료 모델을 무조건 쓰는 것이 아닙니다. 저비용 모델이 여러 번 실패하면 더 비쌉니다. 프로젝트와 단계별 예산을 두고, 근거가 충분한 저비용 경로에서 시작하되 실패 원인이 확인될 때만 모델과 전략을 승격해야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로드맵의 첫 번째는 반드시 A-1 신뢰성입니다. 생성 공장이 불안정하면 이후 모든 기능의 생산 속도가 떨어집니다. 그 다음으로 데이터와 권한, 앱 런타임, 제조 디지털트윈 MVP, 전사 확장 순서로 진행해야 합니다. 개인화는 권한 경계가 안정된 마지막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Pilot의 사용자 경험은 네 화면으로 요약됩니다. 경영자는 시나리오를 조정하고, 현업은 현재 상태와 병목을 보며, 데이터 담당자는 신뢰성을 확인하고, 슈퍼바이저는 자연어로 근거와 다음 조치를 안내합니다. 이 네 기능이 하나의 사용자 여정으로 연결되어야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빠졌던 핵심을 보완합니다. 우리 플랫폼의 첫 번째 고객 경험은 현업 사용자가 직접 업무 앱을 만드는 것입니다. 사용자는 코드를 작성하지 않고 목적, 데이터 사용 범위, 승인과 공개 범위를 결정합니다. 시스템은 선택형 인터뷰, 기존 자산 재사용, 설계 미리보기, 코드 생성, 테스트, 권한 검사, 배포와 운영 관측을 책임집니다. 이 생성기는 디지털트윈을 만드는 도구이면서, 부서별 특화 앱을 만드는 일상적 생산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우리의 다음 의사결정은 기능 목록을 늘리는 것이 아닙니다. 첫 Pilot 가치흐름, 참여 부서, 데이터 오너, KPI 정의를 확정하는 것입니다. 이를 기준으로 A-1 안정화 이후의 모든 개발이 디지털트윈이라는 하나의 목적에 맞춰 진행될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548640" y="594360"/>
            <a:ext cx="1051560" cy="164592"/>
          </a:xfrm>
          <a:prstGeom prst="roundRect">
            <a:avLst>
              <a:gd name="adj" fmla="val 44444"/>
            </a:avLst>
          </a:prstGeom>
          <a:solidFill>
            <a:srgbClr val="007C83"/>
          </a:solidFill>
          <a:ln w="12700">
            <a:solidFill>
              <a:srgbClr val="007C83">
                <a:alpha val="0"/>
              </a:srgbClr>
            </a:solidFill>
            <a:prstDash val="solid"/>
          </a:ln>
        </p:spPr>
      </p:sp>
      <p:sp>
        <p:nvSpPr>
          <p:cNvPr id="3" name="Text 1"/>
          <p:cNvSpPr/>
          <p:nvPr/>
        </p:nvSpPr>
        <p:spPr>
          <a:xfrm>
            <a:off x="594360" y="1024128"/>
            <a:ext cx="4937760" cy="310896"/>
          </a:xfrm>
          <a:prstGeom prst="rect">
            <a:avLst/>
          </a:prstGeom>
          <a:noFill/>
          <a:ln/>
        </p:spPr>
        <p:txBody>
          <a:bodyPr wrap="square" lIns="762" tIns="762" rIns="762" bIns="762" rtlCol="0" anchor="ctr">
            <a:normAutofit/>
          </a:bodyPr>
          <a:lstStyle/>
          <a:p>
            <a:pPr algn="l" indent="0" marL="0">
              <a:buNone/>
            </a:pPr>
            <a:r>
              <a:rPr lang="en-US" sz="1900" b="1" dirty="0">
                <a:solidFill>
                  <a:srgbClr val="6DE0D1"/>
                </a:solidFill>
                <a:latin typeface="Arial" pitchFamily="34" charset="0"/>
                <a:ea typeface="Arial" pitchFamily="34" charset="-122"/>
                <a:cs typeface="Arial" pitchFamily="34" charset="-120"/>
              </a:rPr>
              <a:t>AI FACTORY STUDIO</a:t>
            </a:r>
            <a:endParaRPr lang="en-US" sz="1900" dirty="0"/>
          </a:p>
        </p:txBody>
      </p:sp>
      <p:sp>
        <p:nvSpPr>
          <p:cNvPr id="4" name="Text 2"/>
          <p:cNvSpPr/>
          <p:nvPr/>
        </p:nvSpPr>
        <p:spPr>
          <a:xfrm>
            <a:off x="594360" y="1481328"/>
            <a:ext cx="6583680" cy="1371600"/>
          </a:xfrm>
          <a:prstGeom prst="rect">
            <a:avLst/>
          </a:prstGeom>
          <a:noFill/>
          <a:ln/>
        </p:spPr>
        <p:txBody>
          <a:bodyPr wrap="square" lIns="762" tIns="762" rIns="762" bIns="762" rtlCol="0" anchor="t">
            <a:normAutofit/>
          </a:bodyPr>
          <a:lstStyle/>
          <a:p>
            <a:pPr algn="l" indent="0" marL="0">
              <a:buNone/>
            </a:pPr>
            <a:r>
              <a:rPr lang="en-US" sz="3900" b="1" dirty="0">
                <a:solidFill>
                  <a:srgbClr val="FFFFFF"/>
                </a:solidFill>
                <a:latin typeface="Arial" pitchFamily="34" charset="0"/>
                <a:ea typeface="Arial" pitchFamily="34" charset="-122"/>
                <a:cs typeface="Arial" pitchFamily="34" charset="-120"/>
              </a:rPr>
              <a:t>기업 경영</a:t>
            </a:r>
            <a:endParaRPr lang="en-US" sz="3900" dirty="0"/>
          </a:p>
          <a:p>
            <a:pPr algn="l" indent="0" marL="0">
              <a:buNone/>
            </a:pPr>
            <a:r>
              <a:rPr lang="en-US" sz="3900" b="1" dirty="0">
                <a:solidFill>
                  <a:srgbClr val="FFFFFF"/>
                </a:solidFill>
                <a:latin typeface="Arial" pitchFamily="34" charset="0"/>
                <a:ea typeface="Arial" pitchFamily="34" charset="-122"/>
                <a:cs typeface="Arial" pitchFamily="34" charset="-120"/>
              </a:rPr>
              <a:t>디지털트윈 플랫폼</a:t>
            </a:r>
            <a:endParaRPr lang="en-US" sz="3900" dirty="0"/>
          </a:p>
        </p:txBody>
      </p:sp>
      <p:sp>
        <p:nvSpPr>
          <p:cNvPr id="5" name="Text 3"/>
          <p:cNvSpPr/>
          <p:nvPr/>
        </p:nvSpPr>
        <p:spPr>
          <a:xfrm>
            <a:off x="621792" y="3182112"/>
            <a:ext cx="5760720" cy="731520"/>
          </a:xfrm>
          <a:prstGeom prst="rect">
            <a:avLst/>
          </a:prstGeom>
          <a:noFill/>
          <a:ln/>
        </p:spPr>
        <p:txBody>
          <a:bodyPr wrap="square" lIns="762" tIns="762" rIns="762" bIns="762" rtlCol="0" anchor="t">
            <a:normAutofit/>
          </a:bodyPr>
          <a:lstStyle/>
          <a:p>
            <a:pPr algn="l" indent="0" marL="0">
              <a:buNone/>
            </a:pPr>
            <a:r>
              <a:rPr lang="en-US" sz="1700" dirty="0">
                <a:solidFill>
                  <a:srgbClr val="D9E2EC"/>
                </a:solidFill>
                <a:latin typeface="Arial" pitchFamily="34" charset="0"/>
                <a:ea typeface="Arial" pitchFamily="34" charset="-122"/>
                <a:cs typeface="Arial" pitchFamily="34" charset="-120"/>
              </a:rPr>
              <a:t>실제 데이터를 기반으로 미래를 계산하고,</a:t>
            </a:r>
            <a:endParaRPr lang="en-US" sz="1700" dirty="0"/>
          </a:p>
          <a:p>
            <a:pPr algn="l" indent="0" marL="0">
              <a:buNone/>
            </a:pPr>
            <a:r>
              <a:rPr lang="en-US" sz="1700" dirty="0">
                <a:solidFill>
                  <a:srgbClr val="D9E2EC"/>
                </a:solidFill>
                <a:latin typeface="Arial" pitchFamily="34" charset="0"/>
                <a:ea typeface="Arial" pitchFamily="34" charset="-122"/>
                <a:cs typeface="Arial" pitchFamily="34" charset="-120"/>
              </a:rPr>
              <a:t>경영 의사결정을 통제 가능한 방식으로 돕는 AI 운영 플랫폼</a:t>
            </a:r>
            <a:endParaRPr lang="en-US" sz="1700" dirty="0"/>
          </a:p>
        </p:txBody>
      </p:sp>
      <p:sp>
        <p:nvSpPr>
          <p:cNvPr id="6" name="Shape 4"/>
          <p:cNvSpPr/>
          <p:nvPr/>
        </p:nvSpPr>
        <p:spPr>
          <a:xfrm>
            <a:off x="7543800" y="1078992"/>
            <a:ext cx="2423160" cy="658368"/>
          </a:xfrm>
          <a:prstGeom prst="roundRect">
            <a:avLst>
              <a:gd name="adj" fmla="val 11111"/>
            </a:avLst>
          </a:prstGeom>
          <a:solidFill>
            <a:srgbClr val="007C83"/>
          </a:solidFill>
          <a:ln w="12700">
            <a:solidFill>
              <a:srgbClr val="007C83">
                <a:alpha val="0"/>
              </a:srgbClr>
            </a:solidFill>
            <a:prstDash val="solid"/>
          </a:ln>
        </p:spPr>
      </p:sp>
      <p:sp>
        <p:nvSpPr>
          <p:cNvPr id="7" name="Text 5"/>
          <p:cNvSpPr/>
          <p:nvPr/>
        </p:nvSpPr>
        <p:spPr>
          <a:xfrm>
            <a:off x="7543800" y="1243584"/>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현업 데이터</a:t>
            </a:r>
            <a:endParaRPr lang="en-US" sz="1600" dirty="0"/>
          </a:p>
        </p:txBody>
      </p:sp>
      <p:sp>
        <p:nvSpPr>
          <p:cNvPr id="8" name="Shape 6"/>
          <p:cNvSpPr/>
          <p:nvPr/>
        </p:nvSpPr>
        <p:spPr>
          <a:xfrm>
            <a:off x="8869680" y="2057400"/>
            <a:ext cx="2423160" cy="658368"/>
          </a:xfrm>
          <a:prstGeom prst="roundRect">
            <a:avLst>
              <a:gd name="adj" fmla="val 11111"/>
            </a:avLst>
          </a:prstGeom>
          <a:solidFill>
            <a:srgbClr val="1769AA"/>
          </a:solidFill>
          <a:ln w="12700">
            <a:solidFill>
              <a:srgbClr val="1769AA">
                <a:alpha val="0"/>
              </a:srgbClr>
            </a:solidFill>
            <a:prstDash val="solid"/>
          </a:ln>
        </p:spPr>
      </p:sp>
      <p:sp>
        <p:nvSpPr>
          <p:cNvPr id="9" name="Text 7"/>
          <p:cNvSpPr/>
          <p:nvPr/>
        </p:nvSpPr>
        <p:spPr>
          <a:xfrm>
            <a:off x="8869680" y="2221992"/>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디지털트윈</a:t>
            </a:r>
            <a:endParaRPr lang="en-US" sz="1600" dirty="0"/>
          </a:p>
        </p:txBody>
      </p:sp>
      <p:sp>
        <p:nvSpPr>
          <p:cNvPr id="10" name="Shape 8"/>
          <p:cNvSpPr/>
          <p:nvPr/>
        </p:nvSpPr>
        <p:spPr>
          <a:xfrm>
            <a:off x="7543800" y="3035808"/>
            <a:ext cx="2423160" cy="658368"/>
          </a:xfrm>
          <a:prstGeom prst="roundRect">
            <a:avLst>
              <a:gd name="adj" fmla="val 11111"/>
            </a:avLst>
          </a:prstGeom>
          <a:solidFill>
            <a:srgbClr val="5B3FA3"/>
          </a:solidFill>
          <a:ln w="12700">
            <a:solidFill>
              <a:srgbClr val="5B3FA3">
                <a:alpha val="0"/>
              </a:srgbClr>
            </a:solidFill>
            <a:prstDash val="solid"/>
          </a:ln>
        </p:spPr>
      </p:sp>
      <p:sp>
        <p:nvSpPr>
          <p:cNvPr id="11" name="Text 9"/>
          <p:cNvSpPr/>
          <p:nvPr/>
        </p:nvSpPr>
        <p:spPr>
          <a:xfrm>
            <a:off x="7543800" y="3200400"/>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경영 의사결정</a:t>
            </a:r>
            <a:endParaRPr lang="en-US" sz="1600" dirty="0"/>
          </a:p>
        </p:txBody>
      </p:sp>
      <p:sp>
        <p:nvSpPr>
          <p:cNvPr id="12" name="Shape 10"/>
          <p:cNvSpPr/>
          <p:nvPr/>
        </p:nvSpPr>
        <p:spPr>
          <a:xfrm>
            <a:off x="8732520" y="1755648"/>
            <a:ext cx="1216152" cy="301752"/>
          </a:xfrm>
          <a:prstGeom prst="line">
            <a:avLst/>
          </a:prstGeom>
          <a:noFill/>
          <a:ln w="25400">
            <a:solidFill>
              <a:srgbClr val="6DE0D1"/>
            </a:solidFill>
            <a:prstDash val="solid"/>
            <a:tailEnd type="triangle"/>
          </a:ln>
        </p:spPr>
      </p:sp>
      <p:sp>
        <p:nvSpPr>
          <p:cNvPr id="13" name="Shape 11"/>
          <p:cNvSpPr/>
          <p:nvPr/>
        </p:nvSpPr>
        <p:spPr>
          <a:xfrm>
            <a:off x="8732520" y="2715768"/>
            <a:ext cx="1216152" cy="320040"/>
          </a:xfrm>
          <a:prstGeom prst="line">
            <a:avLst/>
          </a:prstGeom>
          <a:noFill/>
          <a:ln w="25400">
            <a:solidFill>
              <a:srgbClr val="6DE0D1"/>
            </a:solidFill>
            <a:prstDash val="solid"/>
            <a:tailEnd type="triangle"/>
          </a:ln>
        </p:spPr>
      </p:sp>
      <p:sp>
        <p:nvSpPr>
          <p:cNvPr id="14" name="Shape 12"/>
          <p:cNvSpPr/>
          <p:nvPr/>
        </p:nvSpPr>
        <p:spPr>
          <a:xfrm>
            <a:off x="8732520" y="1737360"/>
            <a:ext cx="0" cy="1298448"/>
          </a:xfrm>
          <a:prstGeom prst="line">
            <a:avLst/>
          </a:prstGeom>
          <a:noFill/>
          <a:ln w="25400">
            <a:solidFill>
              <a:srgbClr val="6DE0D1"/>
            </a:solidFill>
            <a:prstDash val="solid"/>
            <a:tailEnd type="triangle"/>
          </a:ln>
        </p:spPr>
      </p:sp>
      <p:sp>
        <p:nvSpPr>
          <p:cNvPr id="15" name="Text 13"/>
          <p:cNvSpPr/>
          <p:nvPr/>
        </p:nvSpPr>
        <p:spPr>
          <a:xfrm>
            <a:off x="621792" y="6153912"/>
            <a:ext cx="7498080" cy="219456"/>
          </a:xfrm>
          <a:prstGeom prst="rect">
            <a:avLst/>
          </a:prstGeom>
          <a:noFill/>
          <a:ln/>
        </p:spPr>
        <p:txBody>
          <a:bodyPr wrap="square" lIns="762" tIns="762" rIns="762" bIns="762" rtlCol="0" anchor="ctr">
            <a:normAutofit/>
          </a:bodyPr>
          <a:lstStyle/>
          <a:p>
            <a:pPr algn="l" indent="0" marL="0">
              <a:buNone/>
            </a:pPr>
            <a:r>
              <a:rPr lang="en-US" sz="1100" dirty="0">
                <a:solidFill>
                  <a:srgbClr val="9FB3C8"/>
                </a:solidFill>
                <a:latin typeface="Arial" pitchFamily="34" charset="0"/>
                <a:ea typeface="Arial" pitchFamily="34" charset="-122"/>
                <a:cs typeface="Arial" pitchFamily="34" charset="-120"/>
              </a:rPr>
              <a:t>To-Be Architecture &amp; Implementation Functions · 2026.07.27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02</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궁극적 목표: “회사 전체를 질문하고, 조건을 바꾸고, 결과를 검증한다”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경영자가 자연어로 묻되, 답은 근거·시점·신뢰도와 함께 제공된다.</a:t>
            </a:r>
            <a:endParaRPr lang="en-US" sz="1050" dirty="0"/>
          </a:p>
        </p:txBody>
      </p:sp>
      <p:sp>
        <p:nvSpPr>
          <p:cNvPr id="5" name="Shape 3"/>
          <p:cNvSpPr/>
          <p:nvPr/>
        </p:nvSpPr>
        <p:spPr>
          <a:xfrm>
            <a:off x="640080" y="1298448"/>
            <a:ext cx="5166360" cy="1417320"/>
          </a:xfrm>
          <a:prstGeom prst="roundRect">
            <a:avLst>
              <a:gd name="adj" fmla="val 5161"/>
            </a:avLst>
          </a:prstGeom>
          <a:solidFill>
            <a:srgbClr val="D7F2EE"/>
          </a:solidFill>
          <a:ln w="12700">
            <a:solidFill>
              <a:srgbClr val="D7F2EE">
                <a:alpha val="0"/>
              </a:srgbClr>
            </a:solidFill>
            <a:prstDash val="solid"/>
          </a:ln>
        </p:spPr>
      </p:sp>
      <p:sp>
        <p:nvSpPr>
          <p:cNvPr id="6" name="Text 4"/>
          <p:cNvSpPr/>
          <p:nvPr/>
        </p:nvSpPr>
        <p:spPr>
          <a:xfrm>
            <a:off x="804672" y="143560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올해 하반기 수주가 12% 감소하면?</a:t>
            </a:r>
            <a:endParaRPr lang="en-US" sz="1500" dirty="0"/>
          </a:p>
        </p:txBody>
      </p:sp>
      <p:sp>
        <p:nvSpPr>
          <p:cNvPr id="7" name="Text 5"/>
          <p:cNvSpPr/>
          <p:nvPr/>
        </p:nvSpPr>
        <p:spPr>
          <a:xfrm>
            <a:off x="804672" y="175564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매출·가동률·재고·현금·손익</a:t>
            </a:r>
            <a:endParaRPr lang="en-US" sz="1100" dirty="0"/>
          </a:p>
        </p:txBody>
      </p:sp>
      <p:sp>
        <p:nvSpPr>
          <p:cNvPr id="8" name="Shape 6"/>
          <p:cNvSpPr/>
          <p:nvPr/>
        </p:nvSpPr>
        <p:spPr>
          <a:xfrm>
            <a:off x="6263640" y="1298448"/>
            <a:ext cx="5166360" cy="1417320"/>
          </a:xfrm>
          <a:prstGeom prst="roundRect">
            <a:avLst>
              <a:gd name="adj" fmla="val 5161"/>
            </a:avLst>
          </a:prstGeom>
          <a:solidFill>
            <a:srgbClr val="E8F3FA"/>
          </a:solidFill>
          <a:ln w="12700">
            <a:solidFill>
              <a:srgbClr val="E8F3FA">
                <a:alpha val="0"/>
              </a:srgbClr>
            </a:solidFill>
            <a:prstDash val="solid"/>
          </a:ln>
        </p:spPr>
      </p:sp>
      <p:sp>
        <p:nvSpPr>
          <p:cNvPr id="9" name="Text 7"/>
          <p:cNvSpPr/>
          <p:nvPr/>
        </p:nvSpPr>
        <p:spPr>
          <a:xfrm>
            <a:off x="6428232" y="143560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전기료가 20% 오르면?</a:t>
            </a:r>
            <a:endParaRPr lang="en-US" sz="1500" dirty="0"/>
          </a:p>
        </p:txBody>
      </p:sp>
      <p:sp>
        <p:nvSpPr>
          <p:cNvPr id="10" name="Text 8"/>
          <p:cNvSpPr/>
          <p:nvPr/>
        </p:nvSpPr>
        <p:spPr>
          <a:xfrm>
            <a:off x="6428232" y="175564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공정·품목 원가와 판가/절감 대안</a:t>
            </a:r>
            <a:endParaRPr lang="en-US" sz="1100" dirty="0"/>
          </a:p>
        </p:txBody>
      </p:sp>
      <p:sp>
        <p:nvSpPr>
          <p:cNvPr id="11" name="Shape 9"/>
          <p:cNvSpPr/>
          <p:nvPr/>
        </p:nvSpPr>
        <p:spPr>
          <a:xfrm>
            <a:off x="640080" y="3310128"/>
            <a:ext cx="5166360" cy="1417320"/>
          </a:xfrm>
          <a:prstGeom prst="roundRect">
            <a:avLst>
              <a:gd name="adj" fmla="val 5161"/>
            </a:avLst>
          </a:prstGeom>
          <a:solidFill>
            <a:srgbClr val="FFF4E5"/>
          </a:solidFill>
          <a:ln w="12700">
            <a:solidFill>
              <a:srgbClr val="FFF4E5">
                <a:alpha val="0"/>
              </a:srgbClr>
            </a:solidFill>
            <a:prstDash val="solid"/>
          </a:ln>
        </p:spPr>
      </p:sp>
      <p:sp>
        <p:nvSpPr>
          <p:cNvPr id="12" name="Text 10"/>
          <p:cNvSpPr/>
          <p:nvPr/>
        </p:nvSpPr>
        <p:spPr>
          <a:xfrm>
            <a:off x="804672" y="344728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생산직을 10명 늘리면?</a:t>
            </a:r>
            <a:endParaRPr lang="en-US" sz="1500" dirty="0"/>
          </a:p>
        </p:txBody>
      </p:sp>
      <p:sp>
        <p:nvSpPr>
          <p:cNvPr id="13" name="Text 11"/>
          <p:cNvSpPr/>
          <p:nvPr/>
        </p:nvSpPr>
        <p:spPr>
          <a:xfrm>
            <a:off x="804672" y="376732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납기·잔업·외주·품질·손익분기</a:t>
            </a:r>
            <a:endParaRPr lang="en-US" sz="1100" dirty="0"/>
          </a:p>
        </p:txBody>
      </p:sp>
      <p:sp>
        <p:nvSpPr>
          <p:cNvPr id="14" name="Shape 12"/>
          <p:cNvSpPr/>
          <p:nvPr/>
        </p:nvSpPr>
        <p:spPr>
          <a:xfrm>
            <a:off x="6263640" y="3310128"/>
            <a:ext cx="5166360" cy="1417320"/>
          </a:xfrm>
          <a:prstGeom prst="roundRect">
            <a:avLst>
              <a:gd name="adj" fmla="val 5161"/>
            </a:avLst>
          </a:prstGeom>
          <a:solidFill>
            <a:srgbClr val="EFEAFE"/>
          </a:solidFill>
          <a:ln w="12700">
            <a:solidFill>
              <a:srgbClr val="EFEAFE">
                <a:alpha val="0"/>
              </a:srgbClr>
            </a:solidFill>
            <a:prstDash val="solid"/>
          </a:ln>
        </p:spPr>
      </p:sp>
      <p:sp>
        <p:nvSpPr>
          <p:cNvPr id="15" name="Text 13"/>
          <p:cNvSpPr/>
          <p:nvPr/>
        </p:nvSpPr>
        <p:spPr>
          <a:xfrm>
            <a:off x="6428232" y="344728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내년 설비를 증설하면?</a:t>
            </a:r>
            <a:endParaRPr lang="en-US" sz="1500" dirty="0"/>
          </a:p>
        </p:txBody>
      </p:sp>
      <p:sp>
        <p:nvSpPr>
          <p:cNvPr id="16" name="Text 14"/>
          <p:cNvSpPr/>
          <p:nvPr/>
        </p:nvSpPr>
        <p:spPr>
          <a:xfrm>
            <a:off x="6428232" y="376732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능력·CAPEX·ROI·리스크·민감도</a:t>
            </a:r>
            <a:endParaRPr lang="en-US" sz="1100" dirty="0"/>
          </a:p>
        </p:txBody>
      </p:sp>
      <p:sp>
        <p:nvSpPr>
          <p:cNvPr id="17" name="Shape 15"/>
          <p:cNvSpPr/>
          <p:nvPr/>
        </p:nvSpPr>
        <p:spPr>
          <a:xfrm>
            <a:off x="1325880" y="5468112"/>
            <a:ext cx="9509760" cy="530352"/>
          </a:xfrm>
          <a:prstGeom prst="roundRect">
            <a:avLst>
              <a:gd name="adj" fmla="val 13793"/>
            </a:avLst>
          </a:prstGeom>
          <a:solidFill>
            <a:srgbClr val="102A43"/>
          </a:solidFill>
          <a:ln w="12700">
            <a:solidFill>
              <a:srgbClr val="102A43">
                <a:alpha val="0"/>
              </a:srgbClr>
            </a:solidFill>
            <a:prstDash val="solid"/>
          </a:ln>
        </p:spPr>
      </p:sp>
      <p:sp>
        <p:nvSpPr>
          <p:cNvPr id="18" name="Text 16"/>
          <p:cNvSpPr/>
          <p:nvPr/>
        </p:nvSpPr>
        <p:spPr>
          <a:xfrm>
            <a:off x="1444752" y="5623560"/>
            <a:ext cx="9253728" cy="201168"/>
          </a:xfrm>
          <a:prstGeom prst="rect">
            <a:avLst/>
          </a:prstGeom>
          <a:noFill/>
          <a:ln/>
        </p:spPr>
        <p:txBody>
          <a:bodyPr wrap="square" lIns="762" tIns="762" rIns="762" bIns="762"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답변 형식  =  결과 수치  +  영향 경로  +  가정  +  데이터 시점  +  신뢰도  +  가능한 대안</a:t>
            </a:r>
            <a:endParaRPr lang="en-US" sz="15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03</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현재 위치: AI 생산 공장은 앞서 있고, 운영 데이터 기반은 이제 시작이다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현재 구현을 과장하지 않고, 목표에 필요한 계층별 성숙도를 구분한다.</a:t>
            </a:r>
            <a:endParaRPr lang="en-US" sz="1050" dirty="0"/>
          </a:p>
        </p:txBody>
      </p:sp>
      <p:sp>
        <p:nvSpPr>
          <p:cNvPr id="5" name="Shape 3"/>
          <p:cNvSpPr/>
          <p:nvPr/>
        </p:nvSpPr>
        <p:spPr>
          <a:xfrm>
            <a:off x="685800" y="1152144"/>
            <a:ext cx="1965960" cy="658368"/>
          </a:xfrm>
          <a:prstGeom prst="roundRect">
            <a:avLst>
              <a:gd name="adj" fmla="val 11111"/>
            </a:avLst>
          </a:prstGeom>
          <a:solidFill>
            <a:srgbClr val="D7F2EE"/>
          </a:solidFill>
          <a:ln w="12700">
            <a:solidFill>
              <a:srgbClr val="D7F2EE">
                <a:alpha val="0"/>
              </a:srgbClr>
            </a:solidFill>
            <a:prstDash val="solid"/>
          </a:ln>
        </p:spPr>
      </p:sp>
      <p:sp>
        <p:nvSpPr>
          <p:cNvPr id="6" name="Text 4"/>
          <p:cNvSpPr/>
          <p:nvPr/>
        </p:nvSpPr>
        <p:spPr>
          <a:xfrm>
            <a:off x="822960" y="1353312"/>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AI 생산 공장</a:t>
            </a:r>
            <a:endParaRPr lang="en-US" sz="1400" dirty="0"/>
          </a:p>
        </p:txBody>
      </p:sp>
      <p:sp>
        <p:nvSpPr>
          <p:cNvPr id="7" name="Shape 5"/>
          <p:cNvSpPr/>
          <p:nvPr/>
        </p:nvSpPr>
        <p:spPr>
          <a:xfrm>
            <a:off x="2880360" y="1325880"/>
            <a:ext cx="841248" cy="310896"/>
          </a:xfrm>
          <a:prstGeom prst="roundRect">
            <a:avLst>
              <a:gd name="adj" fmla="val 23529"/>
            </a:avLst>
          </a:prstGeom>
          <a:solidFill>
            <a:srgbClr val="D7F2EE"/>
          </a:solidFill>
          <a:ln w="12700">
            <a:solidFill>
              <a:srgbClr val="D7F2EE">
                <a:alpha val="0"/>
              </a:srgbClr>
            </a:solidFill>
            <a:prstDash val="solid"/>
          </a:ln>
        </p:spPr>
      </p:sp>
      <p:sp>
        <p:nvSpPr>
          <p:cNvPr id="8" name="Text 6"/>
          <p:cNvSpPr/>
          <p:nvPr/>
        </p:nvSpPr>
        <p:spPr>
          <a:xfrm>
            <a:off x="2880360" y="1335024"/>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007C83"/>
                </a:solidFill>
                <a:latin typeface="Arial" pitchFamily="34" charset="0"/>
                <a:ea typeface="Arial" pitchFamily="34" charset="-122"/>
                <a:cs typeface="Arial" pitchFamily="34" charset="-120"/>
              </a:rPr>
              <a:t>강점</a:t>
            </a:r>
            <a:endParaRPr lang="en-US" sz="1000" dirty="0"/>
          </a:p>
        </p:txBody>
      </p:sp>
      <p:sp>
        <p:nvSpPr>
          <p:cNvPr id="9" name="Text 7"/>
          <p:cNvSpPr/>
          <p:nvPr/>
        </p:nvSpPr>
        <p:spPr>
          <a:xfrm>
            <a:off x="3977640" y="1280160"/>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요구사항→설계→WBS→개발→QA→릴리스, HOTL·품질 게이트</a:t>
            </a:r>
            <a:endParaRPr lang="en-US" sz="1300" dirty="0"/>
          </a:p>
        </p:txBody>
      </p:sp>
      <p:sp>
        <p:nvSpPr>
          <p:cNvPr id="10" name="Shape 8"/>
          <p:cNvSpPr/>
          <p:nvPr/>
        </p:nvSpPr>
        <p:spPr>
          <a:xfrm>
            <a:off x="685800" y="2103120"/>
            <a:ext cx="1965960" cy="658368"/>
          </a:xfrm>
          <a:prstGeom prst="roundRect">
            <a:avLst>
              <a:gd name="adj" fmla="val 11111"/>
            </a:avLst>
          </a:prstGeom>
          <a:solidFill>
            <a:srgbClr val="F5F7FA"/>
          </a:solidFill>
          <a:ln w="12700">
            <a:solidFill>
              <a:srgbClr val="F5F7FA">
                <a:alpha val="0"/>
              </a:srgbClr>
            </a:solidFill>
            <a:prstDash val="solid"/>
          </a:ln>
        </p:spPr>
      </p:sp>
      <p:sp>
        <p:nvSpPr>
          <p:cNvPr id="11" name="Text 9"/>
          <p:cNvSpPr/>
          <p:nvPr/>
        </p:nvSpPr>
        <p:spPr>
          <a:xfrm>
            <a:off x="822960" y="2304288"/>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지식·MDM·MCP</a:t>
            </a:r>
            <a:endParaRPr lang="en-US" sz="1400" dirty="0"/>
          </a:p>
        </p:txBody>
      </p:sp>
      <p:sp>
        <p:nvSpPr>
          <p:cNvPr id="12" name="Shape 10"/>
          <p:cNvSpPr/>
          <p:nvPr/>
        </p:nvSpPr>
        <p:spPr>
          <a:xfrm>
            <a:off x="2880360" y="2276856"/>
            <a:ext cx="841248" cy="310896"/>
          </a:xfrm>
          <a:prstGeom prst="roundRect">
            <a:avLst>
              <a:gd name="adj" fmla="val 23529"/>
            </a:avLst>
          </a:prstGeom>
          <a:solidFill>
            <a:srgbClr val="E8F3FA"/>
          </a:solidFill>
          <a:ln w="12700">
            <a:solidFill>
              <a:srgbClr val="E8F3FA">
                <a:alpha val="0"/>
              </a:srgbClr>
            </a:solidFill>
            <a:prstDash val="solid"/>
          </a:ln>
        </p:spPr>
      </p:sp>
      <p:sp>
        <p:nvSpPr>
          <p:cNvPr id="13" name="Text 11"/>
          <p:cNvSpPr/>
          <p:nvPr/>
        </p:nvSpPr>
        <p:spPr>
          <a:xfrm>
            <a:off x="2880360" y="2286000"/>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1769AA"/>
                </a:solidFill>
                <a:latin typeface="Arial" pitchFamily="34" charset="0"/>
                <a:ea typeface="Arial" pitchFamily="34" charset="-122"/>
                <a:cs typeface="Arial" pitchFamily="34" charset="-120"/>
              </a:rPr>
              <a:t>기반</a:t>
            </a:r>
            <a:endParaRPr lang="en-US" sz="1000" dirty="0"/>
          </a:p>
        </p:txBody>
      </p:sp>
      <p:sp>
        <p:nvSpPr>
          <p:cNvPr id="14" name="Text 12"/>
          <p:cNvSpPr/>
          <p:nvPr/>
        </p:nvSpPr>
        <p:spPr>
          <a:xfrm>
            <a:off x="3977640" y="2231136"/>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M1/M2/M3·RAG 기반, 실제 커넥터·계보·카탈로그 확장 필요</a:t>
            </a:r>
            <a:endParaRPr lang="en-US" sz="1300" dirty="0"/>
          </a:p>
        </p:txBody>
      </p:sp>
      <p:sp>
        <p:nvSpPr>
          <p:cNvPr id="15" name="Shape 13"/>
          <p:cNvSpPr/>
          <p:nvPr/>
        </p:nvSpPr>
        <p:spPr>
          <a:xfrm>
            <a:off x="685800" y="3054096"/>
            <a:ext cx="1965960" cy="658368"/>
          </a:xfrm>
          <a:prstGeom prst="roundRect">
            <a:avLst>
              <a:gd name="adj" fmla="val 11111"/>
            </a:avLst>
          </a:prstGeom>
          <a:solidFill>
            <a:srgbClr val="F5F7FA"/>
          </a:solidFill>
          <a:ln w="12700">
            <a:solidFill>
              <a:srgbClr val="F5F7FA">
                <a:alpha val="0"/>
              </a:srgbClr>
            </a:solidFill>
            <a:prstDash val="solid"/>
          </a:ln>
        </p:spPr>
      </p:sp>
      <p:sp>
        <p:nvSpPr>
          <p:cNvPr id="16" name="Text 14"/>
          <p:cNvSpPr/>
          <p:nvPr/>
        </p:nvSpPr>
        <p:spPr>
          <a:xfrm>
            <a:off x="822960" y="3255264"/>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생성 앱 운영</a:t>
            </a:r>
            <a:endParaRPr lang="en-US" sz="1400" dirty="0"/>
          </a:p>
        </p:txBody>
      </p:sp>
      <p:sp>
        <p:nvSpPr>
          <p:cNvPr id="17" name="Shape 15"/>
          <p:cNvSpPr/>
          <p:nvPr/>
        </p:nvSpPr>
        <p:spPr>
          <a:xfrm>
            <a:off x="2880360" y="3227832"/>
            <a:ext cx="841248" cy="310896"/>
          </a:xfrm>
          <a:prstGeom prst="roundRect">
            <a:avLst>
              <a:gd name="adj" fmla="val 23529"/>
            </a:avLst>
          </a:prstGeom>
          <a:solidFill>
            <a:srgbClr val="FFF4E5"/>
          </a:solidFill>
          <a:ln w="12700">
            <a:solidFill>
              <a:srgbClr val="FFF4E5">
                <a:alpha val="0"/>
              </a:srgbClr>
            </a:solidFill>
            <a:prstDash val="solid"/>
          </a:ln>
        </p:spPr>
      </p:sp>
      <p:sp>
        <p:nvSpPr>
          <p:cNvPr id="18" name="Text 16"/>
          <p:cNvSpPr/>
          <p:nvPr/>
        </p:nvSpPr>
        <p:spPr>
          <a:xfrm>
            <a:off x="2880360" y="3236976"/>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부족</a:t>
            </a:r>
            <a:endParaRPr lang="en-US" sz="1000" dirty="0"/>
          </a:p>
        </p:txBody>
      </p:sp>
      <p:sp>
        <p:nvSpPr>
          <p:cNvPr id="19" name="Text 17"/>
          <p:cNvSpPr/>
          <p:nvPr/>
        </p:nvSpPr>
        <p:spPr>
          <a:xfrm>
            <a:off x="3977640" y="3182112"/>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지속 런타임·공통 업무 API·배포·롤백 미구현</a:t>
            </a:r>
            <a:endParaRPr lang="en-US" sz="1300" dirty="0"/>
          </a:p>
        </p:txBody>
      </p:sp>
      <p:sp>
        <p:nvSpPr>
          <p:cNvPr id="20" name="Shape 18"/>
          <p:cNvSpPr/>
          <p:nvPr/>
        </p:nvSpPr>
        <p:spPr>
          <a:xfrm>
            <a:off x="685800" y="4005072"/>
            <a:ext cx="1965960" cy="658368"/>
          </a:xfrm>
          <a:prstGeom prst="roundRect">
            <a:avLst>
              <a:gd name="adj" fmla="val 11111"/>
            </a:avLst>
          </a:prstGeom>
          <a:solidFill>
            <a:srgbClr val="F5F7FA"/>
          </a:solidFill>
          <a:ln w="12700">
            <a:solidFill>
              <a:srgbClr val="F5F7FA">
                <a:alpha val="0"/>
              </a:srgbClr>
            </a:solidFill>
            <a:prstDash val="solid"/>
          </a:ln>
        </p:spPr>
      </p:sp>
      <p:sp>
        <p:nvSpPr>
          <p:cNvPr id="21" name="Text 19"/>
          <p:cNvSpPr/>
          <p:nvPr/>
        </p:nvSpPr>
        <p:spPr>
          <a:xfrm>
            <a:off x="822960" y="4206240"/>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권한·조직</a:t>
            </a:r>
            <a:endParaRPr lang="en-US" sz="1400" dirty="0"/>
          </a:p>
        </p:txBody>
      </p:sp>
      <p:sp>
        <p:nvSpPr>
          <p:cNvPr id="22" name="Shape 20"/>
          <p:cNvSpPr/>
          <p:nvPr/>
        </p:nvSpPr>
        <p:spPr>
          <a:xfrm>
            <a:off x="2880360" y="4178808"/>
            <a:ext cx="841248" cy="310896"/>
          </a:xfrm>
          <a:prstGeom prst="roundRect">
            <a:avLst>
              <a:gd name="adj" fmla="val 23529"/>
            </a:avLst>
          </a:prstGeom>
          <a:solidFill>
            <a:srgbClr val="FFF4E5"/>
          </a:solidFill>
          <a:ln w="12700">
            <a:solidFill>
              <a:srgbClr val="FFF4E5">
                <a:alpha val="0"/>
              </a:srgbClr>
            </a:solidFill>
            <a:prstDash val="solid"/>
          </a:ln>
        </p:spPr>
      </p:sp>
      <p:sp>
        <p:nvSpPr>
          <p:cNvPr id="23" name="Text 21"/>
          <p:cNvSpPr/>
          <p:nvPr/>
        </p:nvSpPr>
        <p:spPr>
          <a:xfrm>
            <a:off x="2880360" y="4187952"/>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설계</a:t>
            </a:r>
            <a:endParaRPr lang="en-US" sz="1000" dirty="0"/>
          </a:p>
        </p:txBody>
      </p:sp>
      <p:sp>
        <p:nvSpPr>
          <p:cNvPr id="24" name="Text 22"/>
          <p:cNvSpPr/>
          <p:nvPr/>
        </p:nvSpPr>
        <p:spPr>
          <a:xfrm>
            <a:off x="3977640" y="4133088"/>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부서 권한/공유 설계는 존재, SSO·정책 집행은 미구현</a:t>
            </a:r>
            <a:endParaRPr lang="en-US" sz="1300" dirty="0"/>
          </a:p>
        </p:txBody>
      </p:sp>
      <p:sp>
        <p:nvSpPr>
          <p:cNvPr id="25" name="Shape 23"/>
          <p:cNvSpPr/>
          <p:nvPr/>
        </p:nvSpPr>
        <p:spPr>
          <a:xfrm>
            <a:off x="685800" y="4956048"/>
            <a:ext cx="1965960" cy="658368"/>
          </a:xfrm>
          <a:prstGeom prst="roundRect">
            <a:avLst>
              <a:gd name="adj" fmla="val 11111"/>
            </a:avLst>
          </a:prstGeom>
          <a:solidFill>
            <a:srgbClr val="F5F7FA"/>
          </a:solidFill>
          <a:ln w="12700">
            <a:solidFill>
              <a:srgbClr val="F5F7FA">
                <a:alpha val="0"/>
              </a:srgbClr>
            </a:solidFill>
            <a:prstDash val="solid"/>
          </a:ln>
        </p:spPr>
      </p:sp>
      <p:sp>
        <p:nvSpPr>
          <p:cNvPr id="26" name="Text 24"/>
          <p:cNvSpPr/>
          <p:nvPr/>
        </p:nvSpPr>
        <p:spPr>
          <a:xfrm>
            <a:off x="822960" y="5157216"/>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디지털트윈</a:t>
            </a:r>
            <a:endParaRPr lang="en-US" sz="1400" dirty="0"/>
          </a:p>
        </p:txBody>
      </p:sp>
      <p:sp>
        <p:nvSpPr>
          <p:cNvPr id="27" name="Shape 25"/>
          <p:cNvSpPr/>
          <p:nvPr/>
        </p:nvSpPr>
        <p:spPr>
          <a:xfrm>
            <a:off x="2880360" y="5129784"/>
            <a:ext cx="841248" cy="310896"/>
          </a:xfrm>
          <a:prstGeom prst="roundRect">
            <a:avLst>
              <a:gd name="adj" fmla="val 23529"/>
            </a:avLst>
          </a:prstGeom>
          <a:solidFill>
            <a:srgbClr val="FFF4E5"/>
          </a:solidFill>
          <a:ln w="12700">
            <a:solidFill>
              <a:srgbClr val="FFF4E5">
                <a:alpha val="0"/>
              </a:srgbClr>
            </a:solidFill>
            <a:prstDash val="solid"/>
          </a:ln>
        </p:spPr>
      </p:sp>
      <p:sp>
        <p:nvSpPr>
          <p:cNvPr id="28" name="Text 26"/>
          <p:cNvSpPr/>
          <p:nvPr/>
        </p:nvSpPr>
        <p:spPr>
          <a:xfrm>
            <a:off x="2880360" y="5138928"/>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초기</a:t>
            </a:r>
            <a:endParaRPr lang="en-US" sz="1000" dirty="0"/>
          </a:p>
        </p:txBody>
      </p:sp>
      <p:sp>
        <p:nvSpPr>
          <p:cNvPr id="29" name="Text 27"/>
          <p:cNvSpPr/>
          <p:nvPr/>
        </p:nvSpPr>
        <p:spPr>
          <a:xfrm>
            <a:off x="3977640" y="5084064"/>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제조 템플릿은 존재, 운영/재무 계산·백테스트는 미구현</a:t>
            </a:r>
            <a:endParaRPr lang="en-US" sz="1300" dirty="0"/>
          </a:p>
        </p:txBody>
      </p:sp>
      <p:sp>
        <p:nvSpPr>
          <p:cNvPr id="30" name="Shape 28"/>
          <p:cNvSpPr/>
          <p:nvPr/>
        </p:nvSpPr>
        <p:spPr>
          <a:xfrm>
            <a:off x="685800" y="5989320"/>
            <a:ext cx="10744200" cy="384048"/>
          </a:xfrm>
          <a:prstGeom prst="roundRect">
            <a:avLst>
              <a:gd name="adj" fmla="val 19048"/>
            </a:avLst>
          </a:prstGeom>
          <a:solidFill>
            <a:srgbClr val="FFF4E5"/>
          </a:solidFill>
          <a:ln w="12700">
            <a:solidFill>
              <a:srgbClr val="FFF4E5">
                <a:alpha val="0"/>
              </a:srgbClr>
            </a:solidFill>
            <a:prstDash val="solid"/>
          </a:ln>
        </p:spPr>
      </p:sp>
      <p:sp>
        <p:nvSpPr>
          <p:cNvPr id="31" name="Text 29"/>
          <p:cNvSpPr/>
          <p:nvPr/>
        </p:nvSpPr>
        <p:spPr>
          <a:xfrm>
            <a:off x="868680" y="6080760"/>
            <a:ext cx="10378440" cy="164592"/>
          </a:xfrm>
          <a:prstGeom prst="rect">
            <a:avLst/>
          </a:prstGeom>
          <a:noFill/>
          <a:ln/>
        </p:spPr>
        <p:txBody>
          <a:bodyPr wrap="square" lIns="762" tIns="762" rIns="762" bIns="762" rtlCol="0" anchor="ctr">
            <a:normAutofit/>
          </a:bodyPr>
          <a:lstStyle/>
          <a:p>
            <a:pPr algn="ctr" indent="0" marL="0">
              <a:buNone/>
            </a:pPr>
            <a:r>
              <a:rPr lang="en-US" sz="1250" b="1" dirty="0">
                <a:solidFill>
                  <a:srgbClr val="C05621"/>
                </a:solidFill>
                <a:latin typeface="Arial" pitchFamily="34" charset="0"/>
                <a:ea typeface="Arial" pitchFamily="34" charset="-122"/>
                <a:cs typeface="Arial" pitchFamily="34" charset="-120"/>
              </a:rPr>
              <a:t>다음 핵심 과제: 기능 수 확대가 아니라 “실제 데이터·권한·앱 실행·시뮬레이션”을 연결하는 공통 기반 구축</a:t>
            </a:r>
            <a:endParaRPr lang="en-US" sz="1250" dirty="0"/>
          </a:p>
        </p:txBody>
      </p:sp>
      <p:sp>
        <p:nvSpPr>
          <p:cNvPr id="32" name="Text 30"/>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04</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To-Be 이미지: 6개 계층이 하나의 경영 의사결정 루프를 만든다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단일 거대 DB나 단일 LLM이 아니라, 역할별 계층과 공통 거버넌스가 결합된 구조다.</a:t>
            </a:r>
            <a:endParaRPr lang="en-US" sz="1050" dirty="0"/>
          </a:p>
        </p:txBody>
      </p:sp>
      <p:sp>
        <p:nvSpPr>
          <p:cNvPr id="5" name="Shape 3"/>
          <p:cNvSpPr/>
          <p:nvPr/>
        </p:nvSpPr>
        <p:spPr>
          <a:xfrm>
            <a:off x="969264" y="1024128"/>
            <a:ext cx="10149840" cy="576072"/>
          </a:xfrm>
          <a:prstGeom prst="roundRect">
            <a:avLst>
              <a:gd name="adj" fmla="val 12698"/>
            </a:avLst>
          </a:prstGeom>
          <a:solidFill>
            <a:srgbClr val="102A43"/>
          </a:solidFill>
          <a:ln w="12700">
            <a:solidFill>
              <a:srgbClr val="102A43">
                <a:alpha val="0"/>
              </a:srgbClr>
            </a:solidFill>
            <a:prstDash val="solid"/>
          </a:ln>
        </p:spPr>
      </p:sp>
      <p:sp>
        <p:nvSpPr>
          <p:cNvPr id="6" name="Text 4"/>
          <p:cNvSpPr/>
          <p:nvPr/>
        </p:nvSpPr>
        <p:spPr>
          <a:xfrm>
            <a:off x="1207008" y="1188720"/>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6  경영 의사결정</a:t>
            </a:r>
            <a:endParaRPr lang="en-US" sz="1400" dirty="0"/>
          </a:p>
        </p:txBody>
      </p:sp>
      <p:sp>
        <p:nvSpPr>
          <p:cNvPr id="7" name="Text 5"/>
          <p:cNvSpPr/>
          <p:nvPr/>
        </p:nvSpPr>
        <p:spPr>
          <a:xfrm>
            <a:off x="3246120" y="1188720"/>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경영 대시보드 · 시나리오 비교 · 예측 · 승인/조치 추적</a:t>
            </a:r>
            <a:endParaRPr lang="en-US" sz="1300" dirty="0"/>
          </a:p>
        </p:txBody>
      </p:sp>
      <p:sp>
        <p:nvSpPr>
          <p:cNvPr id="8" name="Shape 6"/>
          <p:cNvSpPr/>
          <p:nvPr/>
        </p:nvSpPr>
        <p:spPr>
          <a:xfrm>
            <a:off x="969264" y="1810512"/>
            <a:ext cx="10149840" cy="576072"/>
          </a:xfrm>
          <a:prstGeom prst="roundRect">
            <a:avLst>
              <a:gd name="adj" fmla="val 12698"/>
            </a:avLst>
          </a:prstGeom>
          <a:solidFill>
            <a:srgbClr val="007C83"/>
          </a:solidFill>
          <a:ln w="12700">
            <a:solidFill>
              <a:srgbClr val="007C83">
                <a:alpha val="0"/>
              </a:srgbClr>
            </a:solidFill>
            <a:prstDash val="solid"/>
          </a:ln>
        </p:spPr>
      </p:sp>
      <p:sp>
        <p:nvSpPr>
          <p:cNvPr id="9" name="Text 7"/>
          <p:cNvSpPr/>
          <p:nvPr/>
        </p:nvSpPr>
        <p:spPr>
          <a:xfrm>
            <a:off x="1207008" y="1975104"/>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5  AI 제어</a:t>
            </a:r>
            <a:endParaRPr lang="en-US" sz="1400" dirty="0"/>
          </a:p>
        </p:txBody>
      </p:sp>
      <p:sp>
        <p:nvSpPr>
          <p:cNvPr id="10" name="Text 8"/>
          <p:cNvSpPr/>
          <p:nvPr/>
        </p:nvSpPr>
        <p:spPr>
          <a:xfrm>
            <a:off x="3246120" y="1975104"/>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자비스형 슈퍼바이저 · 에이전트 공장 · 모델 라우팅 · 비용/품질 정책</a:t>
            </a:r>
            <a:endParaRPr lang="en-US" sz="1300" dirty="0"/>
          </a:p>
        </p:txBody>
      </p:sp>
      <p:sp>
        <p:nvSpPr>
          <p:cNvPr id="11" name="Shape 9"/>
          <p:cNvSpPr/>
          <p:nvPr/>
        </p:nvSpPr>
        <p:spPr>
          <a:xfrm>
            <a:off x="969264" y="2596896"/>
            <a:ext cx="10149840" cy="576072"/>
          </a:xfrm>
          <a:prstGeom prst="roundRect">
            <a:avLst>
              <a:gd name="adj" fmla="val 12698"/>
            </a:avLst>
          </a:prstGeom>
          <a:solidFill>
            <a:srgbClr val="1769AA"/>
          </a:solidFill>
          <a:ln w="12700">
            <a:solidFill>
              <a:srgbClr val="1769AA">
                <a:alpha val="0"/>
              </a:srgbClr>
            </a:solidFill>
            <a:prstDash val="solid"/>
          </a:ln>
        </p:spPr>
      </p:sp>
      <p:sp>
        <p:nvSpPr>
          <p:cNvPr id="12" name="Text 10"/>
          <p:cNvSpPr/>
          <p:nvPr/>
        </p:nvSpPr>
        <p:spPr>
          <a:xfrm>
            <a:off x="1207008" y="2761488"/>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4  앱·업무 실행</a:t>
            </a:r>
            <a:endParaRPr lang="en-US" sz="1400" dirty="0"/>
          </a:p>
        </p:txBody>
      </p:sp>
      <p:sp>
        <p:nvSpPr>
          <p:cNvPr id="13" name="Text 11"/>
          <p:cNvSpPr/>
          <p:nvPr/>
        </p:nvSpPr>
        <p:spPr>
          <a:xfrm>
            <a:off x="3246120" y="2761488"/>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생성 앱 런타임 · 공통 업무 API · 워크 인박스 · 배포/롤백</a:t>
            </a:r>
            <a:endParaRPr lang="en-US" sz="1300" dirty="0"/>
          </a:p>
        </p:txBody>
      </p:sp>
      <p:sp>
        <p:nvSpPr>
          <p:cNvPr id="14" name="Shape 12"/>
          <p:cNvSpPr/>
          <p:nvPr/>
        </p:nvSpPr>
        <p:spPr>
          <a:xfrm>
            <a:off x="969264" y="3383280"/>
            <a:ext cx="10149840" cy="576072"/>
          </a:xfrm>
          <a:prstGeom prst="roundRect">
            <a:avLst>
              <a:gd name="adj" fmla="val 12698"/>
            </a:avLst>
          </a:prstGeom>
          <a:solidFill>
            <a:srgbClr val="E8F3FA"/>
          </a:solidFill>
          <a:ln w="12700">
            <a:solidFill>
              <a:srgbClr val="E8F3FA">
                <a:alpha val="0"/>
              </a:srgbClr>
            </a:solidFill>
            <a:prstDash val="solid"/>
          </a:ln>
        </p:spPr>
      </p:sp>
      <p:sp>
        <p:nvSpPr>
          <p:cNvPr id="15" name="Text 13"/>
          <p:cNvSpPr/>
          <p:nvPr/>
        </p:nvSpPr>
        <p:spPr>
          <a:xfrm>
            <a:off x="1207008" y="3547872"/>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3  운영 데이터</a:t>
            </a:r>
            <a:endParaRPr lang="en-US" sz="1400" dirty="0"/>
          </a:p>
        </p:txBody>
      </p:sp>
      <p:sp>
        <p:nvSpPr>
          <p:cNvPr id="16" name="Text 14"/>
          <p:cNvSpPr/>
          <p:nvPr/>
        </p:nvSpPr>
        <p:spPr>
          <a:xfrm>
            <a:off x="3246120" y="3547872"/>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주문 · 구매 · 재고 · 생산 · 품질 · 출하 · 전표 · 이벤트</a:t>
            </a:r>
            <a:endParaRPr lang="en-US" sz="1300" dirty="0"/>
          </a:p>
        </p:txBody>
      </p:sp>
      <p:sp>
        <p:nvSpPr>
          <p:cNvPr id="17" name="Shape 15"/>
          <p:cNvSpPr/>
          <p:nvPr/>
        </p:nvSpPr>
        <p:spPr>
          <a:xfrm>
            <a:off x="969264" y="4169664"/>
            <a:ext cx="10149840" cy="576072"/>
          </a:xfrm>
          <a:prstGeom prst="roundRect">
            <a:avLst>
              <a:gd name="adj" fmla="val 12698"/>
            </a:avLst>
          </a:prstGeom>
          <a:solidFill>
            <a:srgbClr val="D7F2EE"/>
          </a:solidFill>
          <a:ln w="12700">
            <a:solidFill>
              <a:srgbClr val="D7F2EE">
                <a:alpha val="0"/>
              </a:srgbClr>
            </a:solidFill>
            <a:prstDash val="solid"/>
          </a:ln>
        </p:spPr>
      </p:sp>
      <p:sp>
        <p:nvSpPr>
          <p:cNvPr id="18" name="Text 16"/>
          <p:cNvSpPr/>
          <p:nvPr/>
        </p:nvSpPr>
        <p:spPr>
          <a:xfrm>
            <a:off x="1207008" y="4334256"/>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2  데이터 거버넌스</a:t>
            </a:r>
            <a:endParaRPr lang="en-US" sz="1400" dirty="0"/>
          </a:p>
        </p:txBody>
      </p:sp>
      <p:sp>
        <p:nvSpPr>
          <p:cNvPr id="19" name="Text 17"/>
          <p:cNvSpPr/>
          <p:nvPr/>
        </p:nvSpPr>
        <p:spPr>
          <a:xfrm>
            <a:off x="3246120" y="4334256"/>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MDM · 데이터 카탈로그 · 품질 · 계보 · 권한 · 보존</a:t>
            </a:r>
            <a:endParaRPr lang="en-US" sz="1300" dirty="0"/>
          </a:p>
        </p:txBody>
      </p:sp>
      <p:sp>
        <p:nvSpPr>
          <p:cNvPr id="20" name="Shape 18"/>
          <p:cNvSpPr/>
          <p:nvPr/>
        </p:nvSpPr>
        <p:spPr>
          <a:xfrm>
            <a:off x="969264" y="4956048"/>
            <a:ext cx="10149840" cy="576072"/>
          </a:xfrm>
          <a:prstGeom prst="roundRect">
            <a:avLst>
              <a:gd name="adj" fmla="val 12698"/>
            </a:avLst>
          </a:prstGeom>
          <a:solidFill>
            <a:srgbClr val="F5F7FA"/>
          </a:solidFill>
          <a:ln w="12700">
            <a:solidFill>
              <a:srgbClr val="F5F7FA">
                <a:alpha val="0"/>
              </a:srgbClr>
            </a:solidFill>
            <a:prstDash val="solid"/>
          </a:ln>
        </p:spPr>
      </p:sp>
      <p:sp>
        <p:nvSpPr>
          <p:cNvPr id="21" name="Text 19"/>
          <p:cNvSpPr/>
          <p:nvPr/>
        </p:nvSpPr>
        <p:spPr>
          <a:xfrm>
            <a:off x="1207008" y="5120640"/>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1  원천·연계</a:t>
            </a:r>
            <a:endParaRPr lang="en-US" sz="1400" dirty="0"/>
          </a:p>
        </p:txBody>
      </p:sp>
      <p:sp>
        <p:nvSpPr>
          <p:cNvPr id="22" name="Text 20"/>
          <p:cNvSpPr/>
          <p:nvPr/>
        </p:nvSpPr>
        <p:spPr>
          <a:xfrm>
            <a:off x="3246120" y="5120640"/>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ERP/MES/PLM/WMS/회계 · 파일 · 외부지표 · MCP/API/CDC</a:t>
            </a:r>
            <a:endParaRPr lang="en-US" sz="13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05</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데이터의 진실을 분리한다: Actual · Forecast · Scenario</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실제값, 예측값, 가정값을 섞지 않는 것이 신뢰 가능한 디지털트윈의 출발점이다.</a:t>
            </a:r>
            <a:endParaRPr lang="en-US" sz="1050" dirty="0"/>
          </a:p>
        </p:txBody>
      </p:sp>
      <p:sp>
        <p:nvSpPr>
          <p:cNvPr id="5" name="Shape 3"/>
          <p:cNvSpPr/>
          <p:nvPr/>
        </p:nvSpPr>
        <p:spPr>
          <a:xfrm>
            <a:off x="658368" y="1344168"/>
            <a:ext cx="3401568" cy="4087368"/>
          </a:xfrm>
          <a:prstGeom prst="roundRect">
            <a:avLst>
              <a:gd name="adj" fmla="val 2151"/>
            </a:avLst>
          </a:prstGeom>
          <a:solidFill>
            <a:srgbClr val="E8F3FA"/>
          </a:solidFill>
          <a:ln w="12700">
            <a:solidFill>
              <a:srgbClr val="E8F3FA">
                <a:alpha val="0"/>
              </a:srgbClr>
            </a:solidFill>
            <a:prstDash val="solid"/>
          </a:ln>
        </p:spPr>
      </p:sp>
      <p:sp>
        <p:nvSpPr>
          <p:cNvPr id="6" name="Text 4"/>
          <p:cNvSpPr/>
          <p:nvPr/>
        </p:nvSpPr>
        <p:spPr>
          <a:xfrm>
            <a:off x="859536"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1769AA"/>
                </a:solidFill>
                <a:latin typeface="Arial" pitchFamily="34" charset="0"/>
                <a:ea typeface="Arial" pitchFamily="34" charset="-122"/>
                <a:cs typeface="Arial" pitchFamily="34" charset="-120"/>
              </a:rPr>
              <a:t>ACTUAL</a:t>
            </a:r>
            <a:endParaRPr lang="en-US" sz="2200" dirty="0"/>
          </a:p>
        </p:txBody>
      </p:sp>
      <p:sp>
        <p:nvSpPr>
          <p:cNvPr id="7" name="Text 5"/>
          <p:cNvSpPr/>
          <p:nvPr/>
        </p:nvSpPr>
        <p:spPr>
          <a:xfrm>
            <a:off x="914400"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확정 실적·원천 데이터</a:t>
            </a:r>
            <a:endParaRPr lang="en-US" sz="1500" dirty="0"/>
          </a:p>
        </p:txBody>
      </p:sp>
      <p:sp>
        <p:nvSpPr>
          <p:cNvPr id="8" name="Text 6"/>
          <p:cNvSpPr/>
          <p:nvPr/>
        </p:nvSpPr>
        <p:spPr>
          <a:xfrm>
            <a:off x="978408"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수주, 입고, 생산실적, 전표, 재고</a:t>
            </a:r>
            <a:endParaRPr lang="en-US" sz="1300" dirty="0"/>
          </a:p>
        </p:txBody>
      </p:sp>
      <p:sp>
        <p:nvSpPr>
          <p:cNvPr id="9" name="Shape 7"/>
          <p:cNvSpPr/>
          <p:nvPr/>
        </p:nvSpPr>
        <p:spPr>
          <a:xfrm>
            <a:off x="950976"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10" name="Text 8"/>
          <p:cNvSpPr/>
          <p:nvPr/>
        </p:nvSpPr>
        <p:spPr>
          <a:xfrm>
            <a:off x="1069848"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원천·발생시각·정산상태</a:t>
            </a:r>
            <a:endParaRPr lang="en-US" sz="1050" dirty="0"/>
          </a:p>
        </p:txBody>
      </p:sp>
      <p:sp>
        <p:nvSpPr>
          <p:cNvPr id="11" name="Shape 9"/>
          <p:cNvSpPr/>
          <p:nvPr/>
        </p:nvSpPr>
        <p:spPr>
          <a:xfrm>
            <a:off x="4462272" y="1344168"/>
            <a:ext cx="3401568" cy="4087368"/>
          </a:xfrm>
          <a:prstGeom prst="roundRect">
            <a:avLst>
              <a:gd name="adj" fmla="val 2151"/>
            </a:avLst>
          </a:prstGeom>
          <a:solidFill>
            <a:srgbClr val="D7F2EE"/>
          </a:solidFill>
          <a:ln w="12700">
            <a:solidFill>
              <a:srgbClr val="D7F2EE">
                <a:alpha val="0"/>
              </a:srgbClr>
            </a:solidFill>
            <a:prstDash val="solid"/>
          </a:ln>
        </p:spPr>
      </p:sp>
      <p:sp>
        <p:nvSpPr>
          <p:cNvPr id="12" name="Text 10"/>
          <p:cNvSpPr/>
          <p:nvPr/>
        </p:nvSpPr>
        <p:spPr>
          <a:xfrm>
            <a:off x="4663440"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007C83"/>
                </a:solidFill>
                <a:latin typeface="Arial" pitchFamily="34" charset="0"/>
                <a:ea typeface="Arial" pitchFamily="34" charset="-122"/>
                <a:cs typeface="Arial" pitchFamily="34" charset="-120"/>
              </a:rPr>
              <a:t>FORECAST</a:t>
            </a:r>
            <a:endParaRPr lang="en-US" sz="2200" dirty="0"/>
          </a:p>
        </p:txBody>
      </p:sp>
      <p:sp>
        <p:nvSpPr>
          <p:cNvPr id="13" name="Text 11"/>
          <p:cNvSpPr/>
          <p:nvPr/>
        </p:nvSpPr>
        <p:spPr>
          <a:xfrm>
            <a:off x="4718304"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모델이 예측한 미래</a:t>
            </a:r>
            <a:endParaRPr lang="en-US" sz="1500" dirty="0"/>
          </a:p>
        </p:txBody>
      </p:sp>
      <p:sp>
        <p:nvSpPr>
          <p:cNvPr id="14" name="Text 12"/>
          <p:cNvSpPr/>
          <p:nvPr/>
        </p:nvSpPr>
        <p:spPr>
          <a:xfrm>
            <a:off x="4782312"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수요전망, 예상 수율, 예상 원가</a:t>
            </a:r>
            <a:endParaRPr lang="en-US" sz="1300" dirty="0"/>
          </a:p>
        </p:txBody>
      </p:sp>
      <p:sp>
        <p:nvSpPr>
          <p:cNvPr id="15" name="Shape 13"/>
          <p:cNvSpPr/>
          <p:nvPr/>
        </p:nvSpPr>
        <p:spPr>
          <a:xfrm>
            <a:off x="4754880"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16" name="Text 14"/>
          <p:cNvSpPr/>
          <p:nvPr/>
        </p:nvSpPr>
        <p:spPr>
          <a:xfrm>
            <a:off x="4873752"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모델 버전·오차·신뢰구간</a:t>
            </a:r>
            <a:endParaRPr lang="en-US" sz="1050" dirty="0"/>
          </a:p>
        </p:txBody>
      </p:sp>
      <p:sp>
        <p:nvSpPr>
          <p:cNvPr id="17" name="Shape 15"/>
          <p:cNvSpPr/>
          <p:nvPr/>
        </p:nvSpPr>
        <p:spPr>
          <a:xfrm>
            <a:off x="8266176" y="1344168"/>
            <a:ext cx="3401568" cy="4087368"/>
          </a:xfrm>
          <a:prstGeom prst="roundRect">
            <a:avLst>
              <a:gd name="adj" fmla="val 2151"/>
            </a:avLst>
          </a:prstGeom>
          <a:solidFill>
            <a:srgbClr val="EFEAFE"/>
          </a:solidFill>
          <a:ln w="12700">
            <a:solidFill>
              <a:srgbClr val="EFEAFE">
                <a:alpha val="0"/>
              </a:srgbClr>
            </a:solidFill>
            <a:prstDash val="solid"/>
          </a:ln>
        </p:spPr>
      </p:sp>
      <p:sp>
        <p:nvSpPr>
          <p:cNvPr id="18" name="Text 16"/>
          <p:cNvSpPr/>
          <p:nvPr/>
        </p:nvSpPr>
        <p:spPr>
          <a:xfrm>
            <a:off x="8467344"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5B3FA3"/>
                </a:solidFill>
                <a:latin typeface="Arial" pitchFamily="34" charset="0"/>
                <a:ea typeface="Arial" pitchFamily="34" charset="-122"/>
                <a:cs typeface="Arial" pitchFamily="34" charset="-120"/>
              </a:rPr>
              <a:t>SCENARIO</a:t>
            </a:r>
            <a:endParaRPr lang="en-US" sz="2200" dirty="0"/>
          </a:p>
        </p:txBody>
      </p:sp>
      <p:sp>
        <p:nvSpPr>
          <p:cNvPr id="19" name="Text 17"/>
          <p:cNvSpPr/>
          <p:nvPr/>
        </p:nvSpPr>
        <p:spPr>
          <a:xfrm>
            <a:off x="8522208"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사용자가 바꾼 가정</a:t>
            </a:r>
            <a:endParaRPr lang="en-US" sz="1500" dirty="0"/>
          </a:p>
        </p:txBody>
      </p:sp>
      <p:sp>
        <p:nvSpPr>
          <p:cNvPr id="20" name="Text 18"/>
          <p:cNvSpPr/>
          <p:nvPr/>
        </p:nvSpPr>
        <p:spPr>
          <a:xfrm>
            <a:off x="8586216"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전기료 +20%, 인력 +10명, 환율 변경</a:t>
            </a:r>
            <a:endParaRPr lang="en-US" sz="1300" dirty="0"/>
          </a:p>
        </p:txBody>
      </p:sp>
      <p:sp>
        <p:nvSpPr>
          <p:cNvPr id="21" name="Shape 19"/>
          <p:cNvSpPr/>
          <p:nvPr/>
        </p:nvSpPr>
        <p:spPr>
          <a:xfrm>
            <a:off x="8558784"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22" name="Text 20"/>
          <p:cNvSpPr/>
          <p:nvPr/>
        </p:nvSpPr>
        <p:spPr>
          <a:xfrm>
            <a:off x="8677656"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작성자·승인자·적용기간</a:t>
            </a:r>
            <a:endParaRPr lang="en-US" sz="1050" dirty="0"/>
          </a:p>
        </p:txBody>
      </p:sp>
      <p:sp>
        <p:nvSpPr>
          <p:cNvPr id="23" name="Text 21"/>
          <p:cNvSpPr/>
          <p:nvPr/>
        </p:nvSpPr>
        <p:spPr>
          <a:xfrm>
            <a:off x="960120" y="5806440"/>
            <a:ext cx="10149840" cy="301752"/>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규칙: 실제값을 시나리오가 덮어쓰지 않으며, 모든 계산 결과는 입력 스냅샷·가정·모델 버전을 가진다.</a:t>
            </a:r>
            <a:endParaRPr lang="en-US" sz="1400" dirty="0"/>
          </a:p>
        </p:txBody>
      </p:sp>
      <p:sp>
        <p:nvSpPr>
          <p:cNvPr id="24" name="Text 22"/>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06</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제조 디지털트윈 Pilot: 하나의 폐쇄형 가치흐름을 먼저 완성한다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처음부터 ERP 전체를 재현하지 않고, 경영 효과가 큰 흐름 하나를 데이터·앱·시뮬레이션까지 연결한다.</a:t>
            </a:r>
            <a:endParaRPr lang="en-US" sz="1050" dirty="0"/>
          </a:p>
        </p:txBody>
      </p:sp>
      <p:sp>
        <p:nvSpPr>
          <p:cNvPr id="5" name="Shape 3"/>
          <p:cNvSpPr/>
          <p:nvPr/>
        </p:nvSpPr>
        <p:spPr>
          <a:xfrm>
            <a:off x="438912"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6" name="Text 4"/>
          <p:cNvSpPr/>
          <p:nvPr/>
        </p:nvSpPr>
        <p:spPr>
          <a:xfrm>
            <a:off x="548640"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수주·수요</a:t>
            </a:r>
            <a:endParaRPr lang="en-US" sz="1300" dirty="0"/>
          </a:p>
        </p:txBody>
      </p:sp>
      <p:sp>
        <p:nvSpPr>
          <p:cNvPr id="7" name="Text 5"/>
          <p:cNvSpPr/>
          <p:nvPr/>
        </p:nvSpPr>
        <p:spPr>
          <a:xfrm>
            <a:off x="557784"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판매 전망·수주잔고</a:t>
            </a:r>
            <a:endParaRPr lang="en-US" sz="980" dirty="0"/>
          </a:p>
        </p:txBody>
      </p:sp>
      <p:sp>
        <p:nvSpPr>
          <p:cNvPr id="8" name="Shape 6"/>
          <p:cNvSpPr/>
          <p:nvPr/>
        </p:nvSpPr>
        <p:spPr>
          <a:xfrm>
            <a:off x="1984248" y="2523744"/>
            <a:ext cx="320040" cy="0"/>
          </a:xfrm>
          <a:prstGeom prst="line">
            <a:avLst/>
          </a:prstGeom>
          <a:noFill/>
          <a:ln w="21590">
            <a:solidFill>
              <a:srgbClr val="007C83"/>
            </a:solidFill>
            <a:prstDash val="solid"/>
            <a:tailEnd type="triangle"/>
          </a:ln>
        </p:spPr>
      </p:sp>
      <p:sp>
        <p:nvSpPr>
          <p:cNvPr id="9" name="Shape 7"/>
          <p:cNvSpPr/>
          <p:nvPr/>
        </p:nvSpPr>
        <p:spPr>
          <a:xfrm>
            <a:off x="2340864"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10" name="Text 8"/>
          <p:cNvSpPr/>
          <p:nvPr/>
        </p:nvSpPr>
        <p:spPr>
          <a:xfrm>
            <a:off x="2450592"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생산계획</a:t>
            </a:r>
            <a:endParaRPr lang="en-US" sz="1300" dirty="0"/>
          </a:p>
        </p:txBody>
      </p:sp>
      <p:sp>
        <p:nvSpPr>
          <p:cNvPr id="11" name="Text 9"/>
          <p:cNvSpPr/>
          <p:nvPr/>
        </p:nvSpPr>
        <p:spPr>
          <a:xfrm>
            <a:off x="2459736"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능력·납기·작업지시</a:t>
            </a:r>
            <a:endParaRPr lang="en-US" sz="980" dirty="0"/>
          </a:p>
        </p:txBody>
      </p:sp>
      <p:sp>
        <p:nvSpPr>
          <p:cNvPr id="12" name="Shape 10"/>
          <p:cNvSpPr/>
          <p:nvPr/>
        </p:nvSpPr>
        <p:spPr>
          <a:xfrm>
            <a:off x="3886200" y="2523744"/>
            <a:ext cx="320040" cy="0"/>
          </a:xfrm>
          <a:prstGeom prst="line">
            <a:avLst/>
          </a:prstGeom>
          <a:noFill/>
          <a:ln w="21590">
            <a:solidFill>
              <a:srgbClr val="007C83"/>
            </a:solidFill>
            <a:prstDash val="solid"/>
            <a:tailEnd type="triangle"/>
          </a:ln>
        </p:spPr>
      </p:sp>
      <p:sp>
        <p:nvSpPr>
          <p:cNvPr id="13" name="Shape 11"/>
          <p:cNvSpPr/>
          <p:nvPr/>
        </p:nvSpPr>
        <p:spPr>
          <a:xfrm>
            <a:off x="4242816"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14" name="Text 12"/>
          <p:cNvSpPr/>
          <p:nvPr/>
        </p:nvSpPr>
        <p:spPr>
          <a:xfrm>
            <a:off x="4352544"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자재·구매</a:t>
            </a:r>
            <a:endParaRPr lang="en-US" sz="1300" dirty="0"/>
          </a:p>
        </p:txBody>
      </p:sp>
      <p:sp>
        <p:nvSpPr>
          <p:cNvPr id="15" name="Text 13"/>
          <p:cNvSpPr/>
          <p:nvPr/>
        </p:nvSpPr>
        <p:spPr>
          <a:xfrm>
            <a:off x="4361688"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BOM·재고·발주</a:t>
            </a:r>
            <a:endParaRPr lang="en-US" sz="980" dirty="0"/>
          </a:p>
        </p:txBody>
      </p:sp>
      <p:sp>
        <p:nvSpPr>
          <p:cNvPr id="16" name="Shape 14"/>
          <p:cNvSpPr/>
          <p:nvPr/>
        </p:nvSpPr>
        <p:spPr>
          <a:xfrm>
            <a:off x="5788152" y="2523744"/>
            <a:ext cx="320040" cy="0"/>
          </a:xfrm>
          <a:prstGeom prst="line">
            <a:avLst/>
          </a:prstGeom>
          <a:noFill/>
          <a:ln w="21590">
            <a:solidFill>
              <a:srgbClr val="007C83"/>
            </a:solidFill>
            <a:prstDash val="solid"/>
            <a:tailEnd type="triangle"/>
          </a:ln>
        </p:spPr>
      </p:sp>
      <p:sp>
        <p:nvSpPr>
          <p:cNvPr id="17" name="Shape 15"/>
          <p:cNvSpPr/>
          <p:nvPr/>
        </p:nvSpPr>
        <p:spPr>
          <a:xfrm>
            <a:off x="6144768"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18" name="Text 16"/>
          <p:cNvSpPr/>
          <p:nvPr/>
        </p:nvSpPr>
        <p:spPr>
          <a:xfrm>
            <a:off x="6254496"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생산·품질</a:t>
            </a:r>
            <a:endParaRPr lang="en-US" sz="1300" dirty="0"/>
          </a:p>
        </p:txBody>
      </p:sp>
      <p:sp>
        <p:nvSpPr>
          <p:cNvPr id="19" name="Text 17"/>
          <p:cNvSpPr/>
          <p:nvPr/>
        </p:nvSpPr>
        <p:spPr>
          <a:xfrm>
            <a:off x="6263640"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실적·수율·불량</a:t>
            </a:r>
            <a:endParaRPr lang="en-US" sz="980" dirty="0"/>
          </a:p>
        </p:txBody>
      </p:sp>
      <p:sp>
        <p:nvSpPr>
          <p:cNvPr id="20" name="Shape 18"/>
          <p:cNvSpPr/>
          <p:nvPr/>
        </p:nvSpPr>
        <p:spPr>
          <a:xfrm>
            <a:off x="7690104" y="2523744"/>
            <a:ext cx="320040" cy="0"/>
          </a:xfrm>
          <a:prstGeom prst="line">
            <a:avLst/>
          </a:prstGeom>
          <a:noFill/>
          <a:ln w="21590">
            <a:solidFill>
              <a:srgbClr val="007C83"/>
            </a:solidFill>
            <a:prstDash val="solid"/>
            <a:tailEnd type="triangle"/>
          </a:ln>
        </p:spPr>
      </p:sp>
      <p:sp>
        <p:nvSpPr>
          <p:cNvPr id="21" name="Shape 19"/>
          <p:cNvSpPr/>
          <p:nvPr/>
        </p:nvSpPr>
        <p:spPr>
          <a:xfrm>
            <a:off x="8046720"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22" name="Text 20"/>
          <p:cNvSpPr/>
          <p:nvPr/>
        </p:nvSpPr>
        <p:spPr>
          <a:xfrm>
            <a:off x="8156448"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출하·매출</a:t>
            </a:r>
            <a:endParaRPr lang="en-US" sz="1300" dirty="0"/>
          </a:p>
        </p:txBody>
      </p:sp>
      <p:sp>
        <p:nvSpPr>
          <p:cNvPr id="23" name="Text 21"/>
          <p:cNvSpPr/>
          <p:nvPr/>
        </p:nvSpPr>
        <p:spPr>
          <a:xfrm>
            <a:off x="8165592"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납품·매출 인식</a:t>
            </a:r>
            <a:endParaRPr lang="en-US" sz="980" dirty="0"/>
          </a:p>
        </p:txBody>
      </p:sp>
      <p:sp>
        <p:nvSpPr>
          <p:cNvPr id="24" name="Shape 22"/>
          <p:cNvSpPr/>
          <p:nvPr/>
        </p:nvSpPr>
        <p:spPr>
          <a:xfrm>
            <a:off x="9592056" y="2523744"/>
            <a:ext cx="320040" cy="0"/>
          </a:xfrm>
          <a:prstGeom prst="line">
            <a:avLst/>
          </a:prstGeom>
          <a:noFill/>
          <a:ln w="21590">
            <a:solidFill>
              <a:srgbClr val="007C83"/>
            </a:solidFill>
            <a:prstDash val="solid"/>
            <a:tailEnd type="triangle"/>
          </a:ln>
        </p:spPr>
      </p:sp>
      <p:sp>
        <p:nvSpPr>
          <p:cNvPr id="25" name="Shape 23"/>
          <p:cNvSpPr/>
          <p:nvPr/>
        </p:nvSpPr>
        <p:spPr>
          <a:xfrm>
            <a:off x="9948672"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26" name="Text 24"/>
          <p:cNvSpPr/>
          <p:nvPr/>
        </p:nvSpPr>
        <p:spPr>
          <a:xfrm>
            <a:off x="10058400"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원가·손익</a:t>
            </a:r>
            <a:endParaRPr lang="en-US" sz="1300" dirty="0"/>
          </a:p>
        </p:txBody>
      </p:sp>
      <p:sp>
        <p:nvSpPr>
          <p:cNvPr id="27" name="Text 25"/>
          <p:cNvSpPr/>
          <p:nvPr/>
        </p:nvSpPr>
        <p:spPr>
          <a:xfrm>
            <a:off x="10067544"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원가·현금·P&amp;L</a:t>
            </a:r>
            <a:endParaRPr lang="en-US" sz="980" dirty="0"/>
          </a:p>
        </p:txBody>
      </p:sp>
      <p:sp>
        <p:nvSpPr>
          <p:cNvPr id="28" name="Shape 26"/>
          <p:cNvSpPr/>
          <p:nvPr/>
        </p:nvSpPr>
        <p:spPr>
          <a:xfrm>
            <a:off x="530352" y="4343400"/>
            <a:ext cx="1508760" cy="484632"/>
          </a:xfrm>
          <a:prstGeom prst="roundRect">
            <a:avLst>
              <a:gd name="adj" fmla="val 15094"/>
            </a:avLst>
          </a:prstGeom>
          <a:solidFill>
            <a:srgbClr val="E8F3FA"/>
          </a:solidFill>
          <a:ln w="12700">
            <a:solidFill>
              <a:srgbClr val="E8F3FA">
                <a:alpha val="0"/>
              </a:srgbClr>
            </a:solidFill>
            <a:prstDash val="solid"/>
          </a:ln>
        </p:spPr>
      </p:sp>
      <p:sp>
        <p:nvSpPr>
          <p:cNvPr id="29" name="Text 27"/>
          <p:cNvSpPr/>
          <p:nvPr/>
        </p:nvSpPr>
        <p:spPr>
          <a:xfrm>
            <a:off x="530352"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수요·판가</a:t>
            </a:r>
            <a:endParaRPr lang="en-US" sz="1070" dirty="0"/>
          </a:p>
        </p:txBody>
      </p:sp>
      <p:sp>
        <p:nvSpPr>
          <p:cNvPr id="30" name="Shape 28"/>
          <p:cNvSpPr/>
          <p:nvPr/>
        </p:nvSpPr>
        <p:spPr>
          <a:xfrm>
            <a:off x="1280160" y="3264408"/>
            <a:ext cx="0" cy="1060704"/>
          </a:xfrm>
          <a:prstGeom prst="line">
            <a:avLst/>
          </a:prstGeom>
          <a:noFill/>
          <a:ln w="12700">
            <a:solidFill>
              <a:srgbClr val="52606D"/>
            </a:solidFill>
            <a:prstDash val="solid"/>
            <a:tailEnd type="none"/>
          </a:ln>
        </p:spPr>
      </p:sp>
      <p:sp>
        <p:nvSpPr>
          <p:cNvPr id="31" name="Shape 29"/>
          <p:cNvSpPr/>
          <p:nvPr/>
        </p:nvSpPr>
        <p:spPr>
          <a:xfrm>
            <a:off x="2414016" y="4343400"/>
            <a:ext cx="1508760" cy="484632"/>
          </a:xfrm>
          <a:prstGeom prst="roundRect">
            <a:avLst>
              <a:gd name="adj" fmla="val 15094"/>
            </a:avLst>
          </a:prstGeom>
          <a:solidFill>
            <a:srgbClr val="FFF4E5"/>
          </a:solidFill>
          <a:ln w="12700">
            <a:solidFill>
              <a:srgbClr val="FFF4E5">
                <a:alpha val="0"/>
              </a:srgbClr>
            </a:solidFill>
            <a:prstDash val="solid"/>
          </a:ln>
        </p:spPr>
      </p:sp>
      <p:sp>
        <p:nvSpPr>
          <p:cNvPr id="32" name="Text 30"/>
          <p:cNvSpPr/>
          <p:nvPr/>
        </p:nvSpPr>
        <p:spPr>
          <a:xfrm>
            <a:off x="2414016"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원재료·환율</a:t>
            </a:r>
            <a:endParaRPr lang="en-US" sz="1070" dirty="0"/>
          </a:p>
        </p:txBody>
      </p:sp>
      <p:sp>
        <p:nvSpPr>
          <p:cNvPr id="33" name="Shape 31"/>
          <p:cNvSpPr/>
          <p:nvPr/>
        </p:nvSpPr>
        <p:spPr>
          <a:xfrm>
            <a:off x="3163824" y="3264408"/>
            <a:ext cx="0" cy="1060704"/>
          </a:xfrm>
          <a:prstGeom prst="line">
            <a:avLst/>
          </a:prstGeom>
          <a:noFill/>
          <a:ln w="12700">
            <a:solidFill>
              <a:srgbClr val="52606D"/>
            </a:solidFill>
            <a:prstDash val="solid"/>
            <a:tailEnd type="none"/>
          </a:ln>
        </p:spPr>
      </p:sp>
      <p:sp>
        <p:nvSpPr>
          <p:cNvPr id="34" name="Shape 32"/>
          <p:cNvSpPr/>
          <p:nvPr/>
        </p:nvSpPr>
        <p:spPr>
          <a:xfrm>
            <a:off x="4297680" y="4343400"/>
            <a:ext cx="1508760" cy="484632"/>
          </a:xfrm>
          <a:prstGeom prst="roundRect">
            <a:avLst>
              <a:gd name="adj" fmla="val 15094"/>
            </a:avLst>
          </a:prstGeom>
          <a:solidFill>
            <a:srgbClr val="FFF4E5"/>
          </a:solidFill>
          <a:ln w="12700">
            <a:solidFill>
              <a:srgbClr val="FFF4E5">
                <a:alpha val="0"/>
              </a:srgbClr>
            </a:solidFill>
            <a:prstDash val="solid"/>
          </a:ln>
        </p:spPr>
      </p:sp>
      <p:sp>
        <p:nvSpPr>
          <p:cNvPr id="35" name="Text 33"/>
          <p:cNvSpPr/>
          <p:nvPr/>
        </p:nvSpPr>
        <p:spPr>
          <a:xfrm>
            <a:off x="4297680"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전기료·가스비</a:t>
            </a:r>
            <a:endParaRPr lang="en-US" sz="1070" dirty="0"/>
          </a:p>
        </p:txBody>
      </p:sp>
      <p:sp>
        <p:nvSpPr>
          <p:cNvPr id="36" name="Shape 34"/>
          <p:cNvSpPr/>
          <p:nvPr/>
        </p:nvSpPr>
        <p:spPr>
          <a:xfrm>
            <a:off x="5047488" y="3264408"/>
            <a:ext cx="0" cy="1060704"/>
          </a:xfrm>
          <a:prstGeom prst="line">
            <a:avLst/>
          </a:prstGeom>
          <a:noFill/>
          <a:ln w="12700">
            <a:solidFill>
              <a:srgbClr val="52606D"/>
            </a:solidFill>
            <a:prstDash val="solid"/>
            <a:tailEnd type="none"/>
          </a:ln>
        </p:spPr>
      </p:sp>
      <p:sp>
        <p:nvSpPr>
          <p:cNvPr id="37" name="Shape 35"/>
          <p:cNvSpPr/>
          <p:nvPr/>
        </p:nvSpPr>
        <p:spPr>
          <a:xfrm>
            <a:off x="6181344" y="4343400"/>
            <a:ext cx="1508760" cy="484632"/>
          </a:xfrm>
          <a:prstGeom prst="roundRect">
            <a:avLst>
              <a:gd name="adj" fmla="val 15094"/>
            </a:avLst>
          </a:prstGeom>
          <a:solidFill>
            <a:srgbClr val="EFEAFE"/>
          </a:solidFill>
          <a:ln w="12700">
            <a:solidFill>
              <a:srgbClr val="EFEAFE">
                <a:alpha val="0"/>
              </a:srgbClr>
            </a:solidFill>
            <a:prstDash val="solid"/>
          </a:ln>
        </p:spPr>
      </p:sp>
      <p:sp>
        <p:nvSpPr>
          <p:cNvPr id="38" name="Text 36"/>
          <p:cNvSpPr/>
          <p:nvPr/>
        </p:nvSpPr>
        <p:spPr>
          <a:xfrm>
            <a:off x="6181344"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인력·외주</a:t>
            </a:r>
            <a:endParaRPr lang="en-US" sz="1070" dirty="0"/>
          </a:p>
        </p:txBody>
      </p:sp>
      <p:sp>
        <p:nvSpPr>
          <p:cNvPr id="39" name="Shape 37"/>
          <p:cNvSpPr/>
          <p:nvPr/>
        </p:nvSpPr>
        <p:spPr>
          <a:xfrm>
            <a:off x="6931152" y="3264408"/>
            <a:ext cx="0" cy="1060704"/>
          </a:xfrm>
          <a:prstGeom prst="line">
            <a:avLst/>
          </a:prstGeom>
          <a:noFill/>
          <a:ln w="12700">
            <a:solidFill>
              <a:srgbClr val="52606D"/>
            </a:solidFill>
            <a:prstDash val="solid"/>
            <a:tailEnd type="none"/>
          </a:ln>
        </p:spPr>
      </p:sp>
      <p:sp>
        <p:nvSpPr>
          <p:cNvPr id="40" name="Shape 38"/>
          <p:cNvSpPr/>
          <p:nvPr/>
        </p:nvSpPr>
        <p:spPr>
          <a:xfrm>
            <a:off x="8065008" y="4343400"/>
            <a:ext cx="1508760" cy="484632"/>
          </a:xfrm>
          <a:prstGeom prst="roundRect">
            <a:avLst>
              <a:gd name="adj" fmla="val 15094"/>
            </a:avLst>
          </a:prstGeom>
          <a:solidFill>
            <a:srgbClr val="D7F2EE"/>
          </a:solidFill>
          <a:ln w="12700">
            <a:solidFill>
              <a:srgbClr val="D7F2EE">
                <a:alpha val="0"/>
              </a:srgbClr>
            </a:solidFill>
            <a:prstDash val="solid"/>
          </a:ln>
        </p:spPr>
      </p:sp>
      <p:sp>
        <p:nvSpPr>
          <p:cNvPr id="41" name="Text 39"/>
          <p:cNvSpPr/>
          <p:nvPr/>
        </p:nvSpPr>
        <p:spPr>
          <a:xfrm>
            <a:off x="8065008"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수율·가동률</a:t>
            </a:r>
            <a:endParaRPr lang="en-US" sz="1070" dirty="0"/>
          </a:p>
        </p:txBody>
      </p:sp>
      <p:sp>
        <p:nvSpPr>
          <p:cNvPr id="42" name="Shape 40"/>
          <p:cNvSpPr/>
          <p:nvPr/>
        </p:nvSpPr>
        <p:spPr>
          <a:xfrm>
            <a:off x="8814816" y="3264408"/>
            <a:ext cx="0" cy="1060704"/>
          </a:xfrm>
          <a:prstGeom prst="line">
            <a:avLst/>
          </a:prstGeom>
          <a:noFill/>
          <a:ln w="12700">
            <a:solidFill>
              <a:srgbClr val="52606D"/>
            </a:solidFill>
            <a:prstDash val="solid"/>
            <a:tailEnd type="none"/>
          </a:ln>
        </p:spPr>
      </p:sp>
      <p:sp>
        <p:nvSpPr>
          <p:cNvPr id="43" name="Shape 41"/>
          <p:cNvSpPr/>
          <p:nvPr/>
        </p:nvSpPr>
        <p:spPr>
          <a:xfrm>
            <a:off x="9948672" y="4343400"/>
            <a:ext cx="1508760" cy="484632"/>
          </a:xfrm>
          <a:prstGeom prst="roundRect">
            <a:avLst>
              <a:gd name="adj" fmla="val 15094"/>
            </a:avLst>
          </a:prstGeom>
          <a:solidFill>
            <a:srgbClr val="E8F3FA"/>
          </a:solidFill>
          <a:ln w="12700">
            <a:solidFill>
              <a:srgbClr val="E8F3FA">
                <a:alpha val="0"/>
              </a:srgbClr>
            </a:solidFill>
            <a:prstDash val="solid"/>
          </a:ln>
        </p:spPr>
      </p:sp>
      <p:sp>
        <p:nvSpPr>
          <p:cNvPr id="44" name="Text 42"/>
          <p:cNvSpPr/>
          <p:nvPr/>
        </p:nvSpPr>
        <p:spPr>
          <a:xfrm>
            <a:off x="9948672"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재고·리드타임</a:t>
            </a:r>
            <a:endParaRPr lang="en-US" sz="1070" dirty="0"/>
          </a:p>
        </p:txBody>
      </p:sp>
      <p:sp>
        <p:nvSpPr>
          <p:cNvPr id="45" name="Shape 43"/>
          <p:cNvSpPr/>
          <p:nvPr/>
        </p:nvSpPr>
        <p:spPr>
          <a:xfrm>
            <a:off x="10698480" y="3264408"/>
            <a:ext cx="0" cy="1060704"/>
          </a:xfrm>
          <a:prstGeom prst="line">
            <a:avLst/>
          </a:prstGeom>
          <a:noFill/>
          <a:ln w="12700">
            <a:solidFill>
              <a:srgbClr val="52606D"/>
            </a:solidFill>
            <a:prstDash val="solid"/>
            <a:tailEnd type="none"/>
          </a:ln>
        </p:spPr>
      </p:sp>
      <p:sp>
        <p:nvSpPr>
          <p:cNvPr id="46" name="Text 44"/>
          <p:cNvSpPr/>
          <p:nvPr/>
        </p:nvSpPr>
        <p:spPr>
          <a:xfrm>
            <a:off x="960120" y="5650992"/>
            <a:ext cx="10149840" cy="256032"/>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결과 KPI  :  매출 · 매출총이익 · 영업이익 · 현금흐름 · 재고 · 납기준수율 · 가동률 · 품질비용</a:t>
            </a:r>
            <a:endParaRPr lang="en-US" sz="1400" dirty="0"/>
          </a:p>
        </p:txBody>
      </p:sp>
      <p:sp>
        <p:nvSpPr>
          <p:cNvPr id="47" name="Text 45"/>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07</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데이터 거버넌스: MDM과 카탈로그는 서로 대체되지 않는다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기준값·자산정보·품질·계보·관계 그래프가 각자의 역할로 결합한다.</a:t>
            </a:r>
            <a:endParaRPr lang="en-US" sz="1050" dirty="0"/>
          </a:p>
        </p:txBody>
      </p:sp>
      <p:sp>
        <p:nvSpPr>
          <p:cNvPr id="5" name="Shape 3"/>
          <p:cNvSpPr/>
          <p:nvPr/>
        </p:nvSpPr>
        <p:spPr>
          <a:xfrm>
            <a:off x="841248" y="1170432"/>
            <a:ext cx="10469880" cy="859536"/>
          </a:xfrm>
          <a:prstGeom prst="roundRect">
            <a:avLst>
              <a:gd name="adj" fmla="val 8511"/>
            </a:avLst>
          </a:prstGeom>
          <a:solidFill>
            <a:srgbClr val="D7F2EE"/>
          </a:solidFill>
          <a:ln w="12700">
            <a:solidFill>
              <a:srgbClr val="D7F2EE">
                <a:alpha val="0"/>
              </a:srgbClr>
            </a:solidFill>
            <a:prstDash val="solid"/>
          </a:ln>
        </p:spPr>
      </p:sp>
      <p:sp>
        <p:nvSpPr>
          <p:cNvPr id="6" name="Text 4"/>
          <p:cNvSpPr/>
          <p:nvPr/>
        </p:nvSpPr>
        <p:spPr>
          <a:xfrm>
            <a:off x="1097280" y="1353312"/>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MDM</a:t>
            </a:r>
            <a:endParaRPr lang="en-US" sz="1700" dirty="0"/>
          </a:p>
        </p:txBody>
      </p:sp>
      <p:sp>
        <p:nvSpPr>
          <p:cNvPr id="7" name="Text 5"/>
          <p:cNvSpPr/>
          <p:nvPr/>
        </p:nvSpPr>
        <p:spPr>
          <a:xfrm>
            <a:off x="3063240" y="1335024"/>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무엇이 공식 업무 대상인가</a:t>
            </a:r>
            <a:endParaRPr lang="en-US" sz="1300" dirty="0"/>
          </a:p>
        </p:txBody>
      </p:sp>
      <p:sp>
        <p:nvSpPr>
          <p:cNvPr id="8" name="Text 6"/>
          <p:cNvSpPr/>
          <p:nvPr/>
        </p:nvSpPr>
        <p:spPr>
          <a:xfrm>
            <a:off x="6080760" y="1335024"/>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품목·설비·공정·거래처·조직·계정</a:t>
            </a:r>
            <a:endParaRPr lang="en-US" sz="1200" dirty="0"/>
          </a:p>
        </p:txBody>
      </p:sp>
      <p:sp>
        <p:nvSpPr>
          <p:cNvPr id="9" name="Shape 7"/>
          <p:cNvSpPr/>
          <p:nvPr/>
        </p:nvSpPr>
        <p:spPr>
          <a:xfrm>
            <a:off x="841248" y="2322576"/>
            <a:ext cx="10469880" cy="859536"/>
          </a:xfrm>
          <a:prstGeom prst="roundRect">
            <a:avLst>
              <a:gd name="adj" fmla="val 8511"/>
            </a:avLst>
          </a:prstGeom>
          <a:solidFill>
            <a:srgbClr val="E8F3FA"/>
          </a:solidFill>
          <a:ln w="12700">
            <a:solidFill>
              <a:srgbClr val="E8F3FA">
                <a:alpha val="0"/>
              </a:srgbClr>
            </a:solidFill>
            <a:prstDash val="solid"/>
          </a:ln>
        </p:spPr>
      </p:sp>
      <p:sp>
        <p:nvSpPr>
          <p:cNvPr id="10" name="Text 8"/>
          <p:cNvSpPr/>
          <p:nvPr/>
        </p:nvSpPr>
        <p:spPr>
          <a:xfrm>
            <a:off x="1097280" y="2505456"/>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데이터 카탈로그</a:t>
            </a:r>
            <a:endParaRPr lang="en-US" sz="1700" dirty="0"/>
          </a:p>
        </p:txBody>
      </p:sp>
      <p:sp>
        <p:nvSpPr>
          <p:cNvPr id="11" name="Text 9"/>
          <p:cNvSpPr/>
          <p:nvPr/>
        </p:nvSpPr>
        <p:spPr>
          <a:xfrm>
            <a:off x="3063240" y="2487168"/>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어디에 어떤 데이터가 있는가</a:t>
            </a:r>
            <a:endParaRPr lang="en-US" sz="1300" dirty="0"/>
          </a:p>
        </p:txBody>
      </p:sp>
      <p:sp>
        <p:nvSpPr>
          <p:cNvPr id="12" name="Text 10"/>
          <p:cNvSpPr/>
          <p:nvPr/>
        </p:nvSpPr>
        <p:spPr>
          <a:xfrm>
            <a:off x="6080760" y="2487168"/>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테이블·필드·API·파일·문서·모델</a:t>
            </a:r>
            <a:endParaRPr lang="en-US" sz="1200" dirty="0"/>
          </a:p>
        </p:txBody>
      </p:sp>
      <p:sp>
        <p:nvSpPr>
          <p:cNvPr id="13" name="Shape 11"/>
          <p:cNvSpPr/>
          <p:nvPr/>
        </p:nvSpPr>
        <p:spPr>
          <a:xfrm>
            <a:off x="841248" y="3474720"/>
            <a:ext cx="10469880" cy="859536"/>
          </a:xfrm>
          <a:prstGeom prst="roundRect">
            <a:avLst>
              <a:gd name="adj" fmla="val 8511"/>
            </a:avLst>
          </a:prstGeom>
          <a:solidFill>
            <a:srgbClr val="FFF4E5"/>
          </a:solidFill>
          <a:ln w="12700">
            <a:solidFill>
              <a:srgbClr val="FFF4E5">
                <a:alpha val="0"/>
              </a:srgbClr>
            </a:solidFill>
            <a:prstDash val="solid"/>
          </a:ln>
        </p:spPr>
      </p:sp>
      <p:sp>
        <p:nvSpPr>
          <p:cNvPr id="14" name="Text 12"/>
          <p:cNvSpPr/>
          <p:nvPr/>
        </p:nvSpPr>
        <p:spPr>
          <a:xfrm>
            <a:off x="1097280" y="3657600"/>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품질·계보</a:t>
            </a:r>
            <a:endParaRPr lang="en-US" sz="1700" dirty="0"/>
          </a:p>
        </p:txBody>
      </p:sp>
      <p:sp>
        <p:nvSpPr>
          <p:cNvPr id="15" name="Text 13"/>
          <p:cNvSpPr/>
          <p:nvPr/>
        </p:nvSpPr>
        <p:spPr>
          <a:xfrm>
            <a:off x="3063240" y="3639312"/>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믿을 수 있고 어디서 왔는가</a:t>
            </a:r>
            <a:endParaRPr lang="en-US" sz="1300" dirty="0"/>
          </a:p>
        </p:txBody>
      </p:sp>
      <p:sp>
        <p:nvSpPr>
          <p:cNvPr id="16" name="Text 14"/>
          <p:cNvSpPr/>
          <p:nvPr/>
        </p:nvSpPr>
        <p:spPr>
          <a:xfrm>
            <a:off x="6080760" y="3639312"/>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최신성·정합성·원천→KPI 흐름</a:t>
            </a:r>
            <a:endParaRPr lang="en-US" sz="1200" dirty="0"/>
          </a:p>
        </p:txBody>
      </p:sp>
      <p:sp>
        <p:nvSpPr>
          <p:cNvPr id="17" name="Shape 15"/>
          <p:cNvSpPr/>
          <p:nvPr/>
        </p:nvSpPr>
        <p:spPr>
          <a:xfrm>
            <a:off x="841248" y="4626864"/>
            <a:ext cx="10469880" cy="859536"/>
          </a:xfrm>
          <a:prstGeom prst="roundRect">
            <a:avLst>
              <a:gd name="adj" fmla="val 8511"/>
            </a:avLst>
          </a:prstGeom>
          <a:solidFill>
            <a:srgbClr val="EFEAFE"/>
          </a:solidFill>
          <a:ln w="12700">
            <a:solidFill>
              <a:srgbClr val="EFEAFE">
                <a:alpha val="0"/>
              </a:srgbClr>
            </a:solidFill>
            <a:prstDash val="solid"/>
          </a:ln>
        </p:spPr>
      </p:sp>
      <p:sp>
        <p:nvSpPr>
          <p:cNvPr id="18" name="Text 16"/>
          <p:cNvSpPr/>
          <p:nvPr/>
        </p:nvSpPr>
        <p:spPr>
          <a:xfrm>
            <a:off x="1097280" y="4809744"/>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Graph RAG</a:t>
            </a:r>
            <a:endParaRPr lang="en-US" sz="1700" dirty="0"/>
          </a:p>
        </p:txBody>
      </p:sp>
      <p:sp>
        <p:nvSpPr>
          <p:cNvPr id="19" name="Text 17"/>
          <p:cNvSpPr/>
          <p:nvPr/>
        </p:nvSpPr>
        <p:spPr>
          <a:xfrm>
            <a:off x="3063240" y="4791456"/>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무엇과 연결되고 무엇에 영향이 있는가</a:t>
            </a:r>
            <a:endParaRPr lang="en-US" sz="1300" dirty="0"/>
          </a:p>
        </p:txBody>
      </p:sp>
      <p:sp>
        <p:nvSpPr>
          <p:cNvPr id="20" name="Text 18"/>
          <p:cNvSpPr/>
          <p:nvPr/>
        </p:nvSpPr>
        <p:spPr>
          <a:xfrm>
            <a:off x="6080760" y="4791456"/>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전기료→설비→품목→원가→손익</a:t>
            </a:r>
            <a:endParaRPr lang="en-US" sz="1200" dirty="0"/>
          </a:p>
        </p:txBody>
      </p:sp>
      <p:sp>
        <p:nvSpPr>
          <p:cNvPr id="21" name="Shape 19"/>
          <p:cNvSpPr/>
          <p:nvPr/>
        </p:nvSpPr>
        <p:spPr>
          <a:xfrm>
            <a:off x="1097280" y="5943600"/>
            <a:ext cx="9921240" cy="347472"/>
          </a:xfrm>
          <a:prstGeom prst="roundRect">
            <a:avLst>
              <a:gd name="adj" fmla="val 21053"/>
            </a:avLst>
          </a:prstGeom>
          <a:solidFill>
            <a:srgbClr val="102A43"/>
          </a:solidFill>
          <a:ln w="12700">
            <a:solidFill>
              <a:srgbClr val="102A43">
                <a:alpha val="0"/>
              </a:srgbClr>
            </a:solidFill>
            <a:prstDash val="solid"/>
          </a:ln>
        </p:spPr>
      </p:sp>
      <p:sp>
        <p:nvSpPr>
          <p:cNvPr id="22" name="Text 20"/>
          <p:cNvSpPr/>
          <p:nvPr/>
        </p:nvSpPr>
        <p:spPr>
          <a:xfrm>
            <a:off x="1252728" y="6035040"/>
            <a:ext cx="9601200" cy="146304"/>
          </a:xfrm>
          <a:prstGeom prst="rect">
            <a:avLst/>
          </a:prstGeom>
          <a:noFill/>
          <a:ln/>
        </p:spPr>
        <p:txBody>
          <a:bodyPr wrap="square" lIns="762" tIns="762" rIns="762" bIns="762"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AI와 시뮬레이터는 권한이 허용되고, 품질·계보가 확인된 자산만 사용한다.</a:t>
            </a:r>
            <a:endParaRPr lang="en-US" sz="12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08</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①: 데이터 카탈로그와 데이터 계약</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모든 데이터·문서·API·모델을 “찾을 수 있고, 이해할 수 있고, 통제할 수 있게” 만든다.</a:t>
            </a:r>
            <a:endParaRPr lang="en-US" sz="1050" dirty="0"/>
          </a:p>
        </p:txBody>
      </p:sp>
      <p:sp>
        <p:nvSpPr>
          <p:cNvPr id="5" name="Shape 3"/>
          <p:cNvSpPr/>
          <p:nvPr/>
        </p:nvSpPr>
        <p:spPr>
          <a:xfrm>
            <a:off x="640080" y="1298448"/>
            <a:ext cx="3383280" cy="1490472"/>
          </a:xfrm>
          <a:prstGeom prst="roundRect">
            <a:avLst>
              <a:gd name="adj" fmla="val 4908"/>
            </a:avLst>
          </a:prstGeom>
          <a:solidFill>
            <a:srgbClr val="E8F3FA"/>
          </a:solidFill>
          <a:ln w="12700">
            <a:solidFill>
              <a:srgbClr val="E8F3FA">
                <a:alpha val="0"/>
              </a:srgbClr>
            </a:solidFill>
            <a:prstDash val="solid"/>
          </a:ln>
        </p:spPr>
      </p:sp>
      <p:sp>
        <p:nvSpPr>
          <p:cNvPr id="6" name="Text 4"/>
          <p:cNvSpPr/>
          <p:nvPr/>
        </p:nvSpPr>
        <p:spPr>
          <a:xfrm>
            <a:off x="80467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자산 등록</a:t>
            </a:r>
            <a:endParaRPr lang="en-US" sz="1500" dirty="0"/>
          </a:p>
        </p:txBody>
      </p:sp>
      <p:sp>
        <p:nvSpPr>
          <p:cNvPr id="7" name="Text 5"/>
          <p:cNvSpPr/>
          <p:nvPr/>
        </p:nvSpPr>
        <p:spPr>
          <a:xfrm>
            <a:off x="80467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DB·테이블·API·파일·문서·모델·대시보드의 공통 레지스트리</a:t>
            </a:r>
            <a:endParaRPr lang="en-US" sz="1100" dirty="0"/>
          </a:p>
        </p:txBody>
      </p:sp>
      <p:sp>
        <p:nvSpPr>
          <p:cNvPr id="8" name="Shape 6"/>
          <p:cNvSpPr/>
          <p:nvPr/>
        </p:nvSpPr>
        <p:spPr>
          <a:xfrm>
            <a:off x="4434840" y="1298448"/>
            <a:ext cx="3383280" cy="1490472"/>
          </a:xfrm>
          <a:prstGeom prst="roundRect">
            <a:avLst>
              <a:gd name="adj" fmla="val 4908"/>
            </a:avLst>
          </a:prstGeom>
          <a:solidFill>
            <a:srgbClr val="D7F2EE"/>
          </a:solidFill>
          <a:ln w="12700">
            <a:solidFill>
              <a:srgbClr val="D7F2EE">
                <a:alpha val="0"/>
              </a:srgbClr>
            </a:solidFill>
            <a:prstDash val="solid"/>
          </a:ln>
        </p:spPr>
      </p:sp>
      <p:sp>
        <p:nvSpPr>
          <p:cNvPr id="9" name="Text 7"/>
          <p:cNvSpPr/>
          <p:nvPr/>
        </p:nvSpPr>
        <p:spPr>
          <a:xfrm>
            <a:off x="459943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용어/동의어</a:t>
            </a:r>
            <a:endParaRPr lang="en-US" sz="1500" dirty="0"/>
          </a:p>
        </p:txBody>
      </p:sp>
      <p:sp>
        <p:nvSpPr>
          <p:cNvPr id="10" name="Text 8"/>
          <p:cNvSpPr/>
          <p:nvPr/>
        </p:nvSpPr>
        <p:spPr>
          <a:xfrm>
            <a:off x="459943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업무 용어, 단위, 계산 정의와 필드·문서 연결</a:t>
            </a:r>
            <a:endParaRPr lang="en-US" sz="1100" dirty="0"/>
          </a:p>
        </p:txBody>
      </p:sp>
      <p:sp>
        <p:nvSpPr>
          <p:cNvPr id="11" name="Shape 9"/>
          <p:cNvSpPr/>
          <p:nvPr/>
        </p:nvSpPr>
        <p:spPr>
          <a:xfrm>
            <a:off x="8229600" y="1298448"/>
            <a:ext cx="3383280" cy="1490472"/>
          </a:xfrm>
          <a:prstGeom prst="roundRect">
            <a:avLst>
              <a:gd name="adj" fmla="val 4908"/>
            </a:avLst>
          </a:prstGeom>
          <a:solidFill>
            <a:srgbClr val="EFEAFE"/>
          </a:solidFill>
          <a:ln w="12700">
            <a:solidFill>
              <a:srgbClr val="EFEAFE">
                <a:alpha val="0"/>
              </a:srgbClr>
            </a:solidFill>
            <a:prstDash val="solid"/>
          </a:ln>
        </p:spPr>
      </p:sp>
      <p:sp>
        <p:nvSpPr>
          <p:cNvPr id="12" name="Text 10"/>
          <p:cNvSpPr/>
          <p:nvPr/>
        </p:nvSpPr>
        <p:spPr>
          <a:xfrm>
            <a:off x="839419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오너·권한</a:t>
            </a:r>
            <a:endParaRPr lang="en-US" sz="1500" dirty="0"/>
          </a:p>
        </p:txBody>
      </p:sp>
      <p:sp>
        <p:nvSpPr>
          <p:cNvPr id="13" name="Text 11"/>
          <p:cNvSpPr/>
          <p:nvPr/>
        </p:nvSpPr>
        <p:spPr>
          <a:xfrm>
            <a:off x="839419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소유 부서, 스튜어드, 민감도, 접근 목적, 마스킹</a:t>
            </a:r>
            <a:endParaRPr lang="en-US" sz="1100" dirty="0"/>
          </a:p>
        </p:txBody>
      </p:sp>
      <p:sp>
        <p:nvSpPr>
          <p:cNvPr id="14" name="Shape 12"/>
          <p:cNvSpPr/>
          <p:nvPr/>
        </p:nvSpPr>
        <p:spPr>
          <a:xfrm>
            <a:off x="640080" y="3328416"/>
            <a:ext cx="3383280" cy="1490472"/>
          </a:xfrm>
          <a:prstGeom prst="roundRect">
            <a:avLst>
              <a:gd name="adj" fmla="val 4908"/>
            </a:avLst>
          </a:prstGeom>
          <a:solidFill>
            <a:srgbClr val="FFF4E5"/>
          </a:solidFill>
          <a:ln w="12700">
            <a:solidFill>
              <a:srgbClr val="FFF4E5">
                <a:alpha val="0"/>
              </a:srgbClr>
            </a:solidFill>
            <a:prstDash val="solid"/>
          </a:ln>
        </p:spPr>
      </p:sp>
      <p:sp>
        <p:nvSpPr>
          <p:cNvPr id="15" name="Text 13"/>
          <p:cNvSpPr/>
          <p:nvPr/>
        </p:nvSpPr>
        <p:spPr>
          <a:xfrm>
            <a:off x="80467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품질</a:t>
            </a:r>
            <a:endParaRPr lang="en-US" sz="1500" dirty="0"/>
          </a:p>
        </p:txBody>
      </p:sp>
      <p:sp>
        <p:nvSpPr>
          <p:cNvPr id="16" name="Text 14"/>
          <p:cNvSpPr/>
          <p:nvPr/>
        </p:nvSpPr>
        <p:spPr>
          <a:xfrm>
            <a:off x="80467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완전성·정합성·최신성·이상치 규칙과 실행 결과</a:t>
            </a:r>
            <a:endParaRPr lang="en-US" sz="1100" dirty="0"/>
          </a:p>
        </p:txBody>
      </p:sp>
      <p:sp>
        <p:nvSpPr>
          <p:cNvPr id="17" name="Shape 15"/>
          <p:cNvSpPr/>
          <p:nvPr/>
        </p:nvSpPr>
        <p:spPr>
          <a:xfrm>
            <a:off x="4434840" y="3328416"/>
            <a:ext cx="3383280" cy="1490472"/>
          </a:xfrm>
          <a:prstGeom prst="roundRect">
            <a:avLst>
              <a:gd name="adj" fmla="val 4908"/>
            </a:avLst>
          </a:prstGeom>
          <a:solidFill>
            <a:srgbClr val="E8F3FA"/>
          </a:solidFill>
          <a:ln w="12700">
            <a:solidFill>
              <a:srgbClr val="E8F3FA">
                <a:alpha val="0"/>
              </a:srgbClr>
            </a:solidFill>
            <a:prstDash val="solid"/>
          </a:ln>
        </p:spPr>
      </p:sp>
      <p:sp>
        <p:nvSpPr>
          <p:cNvPr id="18" name="Text 16"/>
          <p:cNvSpPr/>
          <p:nvPr/>
        </p:nvSpPr>
        <p:spPr>
          <a:xfrm>
            <a:off x="459943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계보</a:t>
            </a:r>
            <a:endParaRPr lang="en-US" sz="1500" dirty="0"/>
          </a:p>
        </p:txBody>
      </p:sp>
      <p:sp>
        <p:nvSpPr>
          <p:cNvPr id="19" name="Text 17"/>
          <p:cNvSpPr/>
          <p:nvPr/>
        </p:nvSpPr>
        <p:spPr>
          <a:xfrm>
            <a:off x="459943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원천→변환→앱→KPI→시뮬레이션의 영향 경로</a:t>
            </a:r>
            <a:endParaRPr lang="en-US" sz="1100" dirty="0"/>
          </a:p>
        </p:txBody>
      </p:sp>
      <p:sp>
        <p:nvSpPr>
          <p:cNvPr id="20" name="Shape 18"/>
          <p:cNvSpPr/>
          <p:nvPr/>
        </p:nvSpPr>
        <p:spPr>
          <a:xfrm>
            <a:off x="8229600" y="3328416"/>
            <a:ext cx="3383280" cy="1490472"/>
          </a:xfrm>
          <a:prstGeom prst="roundRect">
            <a:avLst>
              <a:gd name="adj" fmla="val 4908"/>
            </a:avLst>
          </a:prstGeom>
          <a:solidFill>
            <a:srgbClr val="E8F3FA"/>
          </a:solidFill>
          <a:ln w="12700">
            <a:solidFill>
              <a:srgbClr val="E8F3FA">
                <a:alpha val="0"/>
              </a:srgbClr>
            </a:solidFill>
            <a:prstDash val="solid"/>
          </a:ln>
        </p:spPr>
      </p:sp>
      <p:sp>
        <p:nvSpPr>
          <p:cNvPr id="21" name="Text 19"/>
          <p:cNvSpPr/>
          <p:nvPr/>
        </p:nvSpPr>
        <p:spPr>
          <a:xfrm>
            <a:off x="839419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데이터 계약</a:t>
            </a:r>
            <a:endParaRPr lang="en-US" sz="1500" dirty="0"/>
          </a:p>
        </p:txBody>
      </p:sp>
      <p:sp>
        <p:nvSpPr>
          <p:cNvPr id="22" name="Text 20"/>
          <p:cNvSpPr/>
          <p:nvPr/>
        </p:nvSpPr>
        <p:spPr>
          <a:xfrm>
            <a:off x="839419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생산자·소비자·스키마·SLA·변경/승인 정책</a:t>
            </a:r>
            <a:endParaRPr lang="en-US" sz="11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09</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②: 생성 앱을 “운영되는 업무 앱”으로 승격한다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생성 앱이 각자 데이터 사일로가 되지 않도록 공통 런타임과 업무 API를 제공한다.</a:t>
            </a:r>
            <a:endParaRPr lang="en-US" sz="1050" dirty="0"/>
          </a:p>
        </p:txBody>
      </p:sp>
      <p:sp>
        <p:nvSpPr>
          <p:cNvPr id="5" name="Shape 3"/>
          <p:cNvSpPr/>
          <p:nvPr/>
        </p:nvSpPr>
        <p:spPr>
          <a:xfrm>
            <a:off x="640080" y="1353312"/>
            <a:ext cx="2542032" cy="3429000"/>
          </a:xfrm>
          <a:prstGeom prst="roundRect">
            <a:avLst>
              <a:gd name="adj" fmla="val 2878"/>
            </a:avLst>
          </a:prstGeom>
          <a:solidFill>
            <a:srgbClr val="E8F3FA"/>
          </a:solidFill>
          <a:ln w="12700">
            <a:solidFill>
              <a:srgbClr val="E8F3FA">
                <a:alpha val="0"/>
              </a:srgbClr>
            </a:solidFill>
            <a:prstDash val="solid"/>
          </a:ln>
        </p:spPr>
      </p:sp>
      <p:sp>
        <p:nvSpPr>
          <p:cNvPr id="6" name="Text 4"/>
          <p:cNvSpPr/>
          <p:nvPr/>
        </p:nvSpPr>
        <p:spPr>
          <a:xfrm>
            <a:off x="804672"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앱 등록·배포</a:t>
            </a:r>
            <a:endParaRPr lang="en-US" sz="1700" dirty="0"/>
          </a:p>
        </p:txBody>
      </p:sp>
      <p:sp>
        <p:nvSpPr>
          <p:cNvPr id="7" name="Text 5"/>
          <p:cNvSpPr/>
          <p:nvPr/>
        </p:nvSpPr>
        <p:spPr>
          <a:xfrm>
            <a:off x="877824"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앱 ID, 소유 부서, 버전, 데이터 계약, 배포/롤백</a:t>
            </a:r>
            <a:endParaRPr lang="en-US" sz="1200" dirty="0"/>
          </a:p>
        </p:txBody>
      </p:sp>
      <p:sp>
        <p:nvSpPr>
          <p:cNvPr id="8" name="Shape 6"/>
          <p:cNvSpPr/>
          <p:nvPr/>
        </p:nvSpPr>
        <p:spPr>
          <a:xfrm>
            <a:off x="3502152" y="1353312"/>
            <a:ext cx="2542032" cy="3429000"/>
          </a:xfrm>
          <a:prstGeom prst="roundRect">
            <a:avLst>
              <a:gd name="adj" fmla="val 2878"/>
            </a:avLst>
          </a:prstGeom>
          <a:solidFill>
            <a:srgbClr val="D7F2EE"/>
          </a:solidFill>
          <a:ln w="12700">
            <a:solidFill>
              <a:srgbClr val="D7F2EE">
                <a:alpha val="0"/>
              </a:srgbClr>
            </a:solidFill>
            <a:prstDash val="solid"/>
          </a:ln>
        </p:spPr>
      </p:sp>
      <p:sp>
        <p:nvSpPr>
          <p:cNvPr id="9" name="Text 7"/>
          <p:cNvSpPr/>
          <p:nvPr/>
        </p:nvSpPr>
        <p:spPr>
          <a:xfrm>
            <a:off x="3666744"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공통 업무 API</a:t>
            </a:r>
            <a:endParaRPr lang="en-US" sz="1700" dirty="0"/>
          </a:p>
        </p:txBody>
      </p:sp>
      <p:sp>
        <p:nvSpPr>
          <p:cNvPr id="10" name="Text 8"/>
          <p:cNvSpPr/>
          <p:nvPr/>
        </p:nvSpPr>
        <p:spPr>
          <a:xfrm>
            <a:off x="3739896"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읽기/쓰기, 이벤트, 멱등성, 상관관계 ID, as-of 조회</a:t>
            </a:r>
            <a:endParaRPr lang="en-US" sz="1200" dirty="0"/>
          </a:p>
        </p:txBody>
      </p:sp>
      <p:sp>
        <p:nvSpPr>
          <p:cNvPr id="11" name="Shape 9"/>
          <p:cNvSpPr/>
          <p:nvPr/>
        </p:nvSpPr>
        <p:spPr>
          <a:xfrm>
            <a:off x="6364224" y="1353312"/>
            <a:ext cx="2542032" cy="3429000"/>
          </a:xfrm>
          <a:prstGeom prst="roundRect">
            <a:avLst>
              <a:gd name="adj" fmla="val 2878"/>
            </a:avLst>
          </a:prstGeom>
          <a:solidFill>
            <a:srgbClr val="EFEAFE"/>
          </a:solidFill>
          <a:ln w="12700">
            <a:solidFill>
              <a:srgbClr val="EFEAFE">
                <a:alpha val="0"/>
              </a:srgbClr>
            </a:solidFill>
            <a:prstDash val="solid"/>
          </a:ln>
        </p:spPr>
      </p:sp>
      <p:sp>
        <p:nvSpPr>
          <p:cNvPr id="12" name="Text 10"/>
          <p:cNvSpPr/>
          <p:nvPr/>
        </p:nvSpPr>
        <p:spPr>
          <a:xfrm>
            <a:off x="6528816"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워크 인박스</a:t>
            </a:r>
            <a:endParaRPr lang="en-US" sz="1700" dirty="0"/>
          </a:p>
        </p:txBody>
      </p:sp>
      <p:sp>
        <p:nvSpPr>
          <p:cNvPr id="13" name="Text 11"/>
          <p:cNvSpPr/>
          <p:nvPr/>
        </p:nvSpPr>
        <p:spPr>
          <a:xfrm>
            <a:off x="6601968"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부서 간 순차 업무, 승인·예외·재처리·알림</a:t>
            </a:r>
            <a:endParaRPr lang="en-US" sz="1200" dirty="0"/>
          </a:p>
        </p:txBody>
      </p:sp>
      <p:sp>
        <p:nvSpPr>
          <p:cNvPr id="14" name="Shape 12"/>
          <p:cNvSpPr/>
          <p:nvPr/>
        </p:nvSpPr>
        <p:spPr>
          <a:xfrm>
            <a:off x="9226296" y="1353312"/>
            <a:ext cx="2542032" cy="3429000"/>
          </a:xfrm>
          <a:prstGeom prst="roundRect">
            <a:avLst>
              <a:gd name="adj" fmla="val 2878"/>
            </a:avLst>
          </a:prstGeom>
          <a:solidFill>
            <a:srgbClr val="FFF4E5"/>
          </a:solidFill>
          <a:ln w="12700">
            <a:solidFill>
              <a:srgbClr val="FFF4E5">
                <a:alpha val="0"/>
              </a:srgbClr>
            </a:solidFill>
            <a:prstDash val="solid"/>
          </a:ln>
        </p:spPr>
      </p:sp>
      <p:sp>
        <p:nvSpPr>
          <p:cNvPr id="15" name="Text 13"/>
          <p:cNvSpPr/>
          <p:nvPr/>
        </p:nvSpPr>
        <p:spPr>
          <a:xfrm>
            <a:off x="9390888"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관측·감사</a:t>
            </a:r>
            <a:endParaRPr lang="en-US" sz="1700" dirty="0"/>
          </a:p>
        </p:txBody>
      </p:sp>
      <p:sp>
        <p:nvSpPr>
          <p:cNvPr id="16" name="Text 14"/>
          <p:cNvSpPr/>
          <p:nvPr/>
        </p:nvSpPr>
        <p:spPr>
          <a:xfrm>
            <a:off x="9464040"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오류, 성능, 계약 위반, 사용자 행위, AI 비용</a:t>
            </a:r>
            <a:endParaRPr lang="en-US" sz="1200" dirty="0"/>
          </a:p>
        </p:txBody>
      </p:sp>
      <p:sp>
        <p:nvSpPr>
          <p:cNvPr id="17" name="Shape 15"/>
          <p:cNvSpPr/>
          <p:nvPr/>
        </p:nvSpPr>
        <p:spPr>
          <a:xfrm>
            <a:off x="1097280" y="5349240"/>
            <a:ext cx="9738360" cy="0"/>
          </a:xfrm>
          <a:prstGeom prst="line">
            <a:avLst/>
          </a:prstGeom>
          <a:noFill/>
          <a:ln w="25400">
            <a:solidFill>
              <a:srgbClr val="007C83"/>
            </a:solidFill>
            <a:prstDash val="solid"/>
            <a:tailEnd type="triangle"/>
          </a:ln>
        </p:spPr>
      </p:sp>
      <p:sp>
        <p:nvSpPr>
          <p:cNvPr id="18" name="Text 16"/>
          <p:cNvSpPr/>
          <p:nvPr/>
        </p:nvSpPr>
        <p:spPr>
          <a:xfrm>
            <a:off x="914400" y="5614416"/>
            <a:ext cx="10287000" cy="283464"/>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원칙: 생성 앱은 직접 DB를 만들고 통제하지 않는다. 승인된 공통 데이터 API와 이벤트 계약을 사용한다.</a:t>
            </a:r>
            <a:endParaRPr lang="en-US" sz="14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10</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③: 자비스형 슈퍼바이저는 전사 운영 보조자다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상태를 설명할 뿐 아니라, 권한과 정책 안에서 진단·제안·제어한다.</a:t>
            </a:r>
            <a:endParaRPr lang="en-US" sz="1050" dirty="0"/>
          </a:p>
        </p:txBody>
      </p:sp>
      <p:sp>
        <p:nvSpPr>
          <p:cNvPr id="5" name="Shape 3"/>
          <p:cNvSpPr/>
          <p:nvPr/>
        </p:nvSpPr>
        <p:spPr>
          <a:xfrm>
            <a:off x="685800" y="1298448"/>
            <a:ext cx="5029200" cy="1417320"/>
          </a:xfrm>
          <a:prstGeom prst="roundRect">
            <a:avLst>
              <a:gd name="adj" fmla="val 5161"/>
            </a:avLst>
          </a:prstGeom>
          <a:solidFill>
            <a:srgbClr val="D7F2EE"/>
          </a:solidFill>
          <a:ln w="12700">
            <a:solidFill>
              <a:srgbClr val="D7F2EE">
                <a:alpha val="0"/>
              </a:srgbClr>
            </a:solidFill>
            <a:prstDash val="solid"/>
          </a:ln>
        </p:spPr>
      </p:sp>
      <p:sp>
        <p:nvSpPr>
          <p:cNvPr id="6" name="Text 4"/>
          <p:cNvSpPr/>
          <p:nvPr/>
        </p:nvSpPr>
        <p:spPr>
          <a:xfrm>
            <a:off x="850392" y="143560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전사 질의</a:t>
            </a:r>
            <a:endParaRPr lang="en-US" sz="1500" dirty="0"/>
          </a:p>
        </p:txBody>
      </p:sp>
      <p:sp>
        <p:nvSpPr>
          <p:cNvPr id="7" name="Text 5"/>
          <p:cNvSpPr/>
          <p:nvPr/>
        </p:nvSpPr>
        <p:spPr>
          <a:xfrm>
            <a:off x="850392" y="175564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프로젝트·앱·데이터·연계·시뮬레이션·비용·리스크의 통합 질의응답</a:t>
            </a:r>
            <a:endParaRPr lang="en-US" sz="1100" dirty="0"/>
          </a:p>
        </p:txBody>
      </p:sp>
      <p:sp>
        <p:nvSpPr>
          <p:cNvPr id="8" name="Shape 6"/>
          <p:cNvSpPr/>
          <p:nvPr/>
        </p:nvSpPr>
        <p:spPr>
          <a:xfrm>
            <a:off x="6172200" y="1298448"/>
            <a:ext cx="5029200" cy="1417320"/>
          </a:xfrm>
          <a:prstGeom prst="roundRect">
            <a:avLst>
              <a:gd name="adj" fmla="val 5161"/>
            </a:avLst>
          </a:prstGeom>
          <a:solidFill>
            <a:srgbClr val="E8F3FA"/>
          </a:solidFill>
          <a:ln w="12700">
            <a:solidFill>
              <a:srgbClr val="E8F3FA">
                <a:alpha val="0"/>
              </a:srgbClr>
            </a:solidFill>
            <a:prstDash val="solid"/>
          </a:ln>
        </p:spPr>
      </p:sp>
      <p:sp>
        <p:nvSpPr>
          <p:cNvPr id="9" name="Text 7"/>
          <p:cNvSpPr/>
          <p:nvPr/>
        </p:nvSpPr>
        <p:spPr>
          <a:xfrm>
            <a:off x="6336792" y="143560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진단·경보</a:t>
            </a:r>
            <a:endParaRPr lang="en-US" sz="1500" dirty="0"/>
          </a:p>
        </p:txBody>
      </p:sp>
      <p:sp>
        <p:nvSpPr>
          <p:cNvPr id="10" name="Text 8"/>
          <p:cNvSpPr/>
          <p:nvPr/>
        </p:nvSpPr>
        <p:spPr>
          <a:xfrm>
            <a:off x="6336792" y="175564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데이터 품질 저하, 예측오차, 비용 급증, 병목, 실패 패턴 감지</a:t>
            </a:r>
            <a:endParaRPr lang="en-US" sz="1100" dirty="0"/>
          </a:p>
        </p:txBody>
      </p:sp>
      <p:sp>
        <p:nvSpPr>
          <p:cNvPr id="11" name="Shape 9"/>
          <p:cNvSpPr/>
          <p:nvPr/>
        </p:nvSpPr>
        <p:spPr>
          <a:xfrm>
            <a:off x="685800" y="3310128"/>
            <a:ext cx="5029200" cy="1417320"/>
          </a:xfrm>
          <a:prstGeom prst="roundRect">
            <a:avLst>
              <a:gd name="adj" fmla="val 5161"/>
            </a:avLst>
          </a:prstGeom>
          <a:solidFill>
            <a:srgbClr val="EFEAFE"/>
          </a:solidFill>
          <a:ln w="12700">
            <a:solidFill>
              <a:srgbClr val="EFEAFE">
                <a:alpha val="0"/>
              </a:srgbClr>
            </a:solidFill>
            <a:prstDash val="solid"/>
          </a:ln>
        </p:spPr>
      </p:sp>
      <p:sp>
        <p:nvSpPr>
          <p:cNvPr id="12" name="Text 10"/>
          <p:cNvSpPr/>
          <p:nvPr/>
        </p:nvSpPr>
        <p:spPr>
          <a:xfrm>
            <a:off x="850392" y="344728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대안 제안</a:t>
            </a:r>
            <a:endParaRPr lang="en-US" sz="1500" dirty="0"/>
          </a:p>
        </p:txBody>
      </p:sp>
      <p:sp>
        <p:nvSpPr>
          <p:cNvPr id="13" name="Text 11"/>
          <p:cNvSpPr/>
          <p:nvPr/>
        </p:nvSpPr>
        <p:spPr>
          <a:xfrm>
            <a:off x="850392" y="376732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재시도·모델 승격·시나리오 대안·담당자 액션과 근거 제시</a:t>
            </a:r>
            <a:endParaRPr lang="en-US" sz="1100" dirty="0"/>
          </a:p>
        </p:txBody>
      </p:sp>
      <p:sp>
        <p:nvSpPr>
          <p:cNvPr id="14" name="Shape 12"/>
          <p:cNvSpPr/>
          <p:nvPr/>
        </p:nvSpPr>
        <p:spPr>
          <a:xfrm>
            <a:off x="6172200" y="3310128"/>
            <a:ext cx="5029200" cy="1417320"/>
          </a:xfrm>
          <a:prstGeom prst="roundRect">
            <a:avLst>
              <a:gd name="adj" fmla="val 5161"/>
            </a:avLst>
          </a:prstGeom>
          <a:solidFill>
            <a:srgbClr val="FFF4E5"/>
          </a:solidFill>
          <a:ln w="12700">
            <a:solidFill>
              <a:srgbClr val="FFF4E5">
                <a:alpha val="0"/>
              </a:srgbClr>
            </a:solidFill>
            <a:prstDash val="solid"/>
          </a:ln>
        </p:spPr>
      </p:sp>
      <p:sp>
        <p:nvSpPr>
          <p:cNvPr id="15" name="Text 13"/>
          <p:cNvSpPr/>
          <p:nvPr/>
        </p:nvSpPr>
        <p:spPr>
          <a:xfrm>
            <a:off x="6336792" y="344728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정책적 제어</a:t>
            </a:r>
            <a:endParaRPr lang="en-US" sz="1500" dirty="0"/>
          </a:p>
        </p:txBody>
      </p:sp>
      <p:sp>
        <p:nvSpPr>
          <p:cNvPr id="16" name="Text 14"/>
          <p:cNvSpPr/>
          <p:nvPr/>
        </p:nvSpPr>
        <p:spPr>
          <a:xfrm>
            <a:off x="6336792" y="376732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중지·재개·검증·승인요청·알림을 허용된 도구로만 수행</a:t>
            </a:r>
            <a:endParaRPr lang="en-US" sz="1100" dirty="0"/>
          </a:p>
        </p:txBody>
      </p:sp>
      <p:sp>
        <p:nvSpPr>
          <p:cNvPr id="17" name="Shape 15"/>
          <p:cNvSpPr/>
          <p:nvPr/>
        </p:nvSpPr>
        <p:spPr>
          <a:xfrm>
            <a:off x="914400" y="5577840"/>
            <a:ext cx="10287000" cy="502920"/>
          </a:xfrm>
          <a:prstGeom prst="roundRect">
            <a:avLst>
              <a:gd name="adj" fmla="val 14545"/>
            </a:avLst>
          </a:prstGeom>
          <a:solidFill>
            <a:srgbClr val="102A43"/>
          </a:solidFill>
          <a:ln w="12700">
            <a:solidFill>
              <a:srgbClr val="102A43">
                <a:alpha val="0"/>
              </a:srgbClr>
            </a:solidFill>
            <a:prstDash val="solid"/>
          </a:ln>
        </p:spPr>
      </p:sp>
      <p:sp>
        <p:nvSpPr>
          <p:cNvPr id="18" name="Text 16"/>
          <p:cNvSpPr/>
          <p:nvPr/>
        </p:nvSpPr>
        <p:spPr>
          <a:xfrm>
            <a:off x="1115568" y="5742432"/>
            <a:ext cx="9921240" cy="182880"/>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안전장치  :  권한별 컨텍스트 · 도구 화이트리스트 · 예산 정책 · 사람 승인 · 감사 · 롤백</a:t>
            </a:r>
            <a:endParaRPr lang="en-US" sz="13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11</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LLM은 “계산기”가 아니라 “설계자·해설자·조정자”로 쓴다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디지털트윈의 숫자는 데이터·규칙·제약조건·계산 모델에서 나오고, LLM은 이를 더 잘 쓰게 만든다.</a:t>
            </a:r>
            <a:endParaRPr lang="en-US" sz="1050" dirty="0"/>
          </a:p>
        </p:txBody>
      </p:sp>
      <p:sp>
        <p:nvSpPr>
          <p:cNvPr id="5" name="Shape 3"/>
          <p:cNvSpPr/>
          <p:nvPr/>
        </p:nvSpPr>
        <p:spPr>
          <a:xfrm>
            <a:off x="731520" y="1298448"/>
            <a:ext cx="5138928" cy="4535424"/>
          </a:xfrm>
          <a:prstGeom prst="roundRect">
            <a:avLst>
              <a:gd name="adj" fmla="val 1613"/>
            </a:avLst>
          </a:prstGeom>
          <a:solidFill>
            <a:srgbClr val="E8F3FA"/>
          </a:solidFill>
          <a:ln w="12700">
            <a:solidFill>
              <a:srgbClr val="E8F3FA">
                <a:alpha val="0"/>
              </a:srgbClr>
            </a:solidFill>
            <a:prstDash val="solid"/>
          </a:ln>
        </p:spPr>
      </p:sp>
      <p:sp>
        <p:nvSpPr>
          <p:cNvPr id="6" name="Text 4"/>
          <p:cNvSpPr/>
          <p:nvPr/>
        </p:nvSpPr>
        <p:spPr>
          <a:xfrm>
            <a:off x="914400" y="1572768"/>
            <a:ext cx="4773168" cy="310896"/>
          </a:xfrm>
          <a:prstGeom prst="rect">
            <a:avLst/>
          </a:prstGeom>
          <a:noFill/>
          <a:ln/>
        </p:spPr>
        <p:txBody>
          <a:bodyPr wrap="square" lIns="762" tIns="762" rIns="762" bIns="762" rtlCol="0" anchor="ctr">
            <a:normAutofit/>
          </a:bodyPr>
          <a:lstStyle/>
          <a:p>
            <a:pPr algn="ctr" indent="0" marL="0">
              <a:buNone/>
            </a:pPr>
            <a:r>
              <a:rPr lang="en-US" sz="1900" b="1" dirty="0">
                <a:solidFill>
                  <a:srgbClr val="102A43"/>
                </a:solidFill>
                <a:latin typeface="Arial" pitchFamily="34" charset="0"/>
                <a:ea typeface="Arial" pitchFamily="34" charset="-122"/>
                <a:cs typeface="Arial" pitchFamily="34" charset="-120"/>
              </a:rPr>
              <a:t>LLM이 맡을 일</a:t>
            </a:r>
            <a:endParaRPr lang="en-US" sz="1900" dirty="0"/>
          </a:p>
        </p:txBody>
      </p:sp>
      <p:sp>
        <p:nvSpPr>
          <p:cNvPr id="7" name="Shape 5"/>
          <p:cNvSpPr/>
          <p:nvPr/>
        </p:nvSpPr>
        <p:spPr>
          <a:xfrm>
            <a:off x="1051560" y="2240280"/>
            <a:ext cx="201168" cy="201168"/>
          </a:xfrm>
          <a:prstGeom prst="roundRect">
            <a:avLst>
              <a:gd name="adj" fmla="val 36364"/>
            </a:avLst>
          </a:prstGeom>
          <a:solidFill>
            <a:srgbClr val="1769AA"/>
          </a:solidFill>
          <a:ln w="12700">
            <a:solidFill>
              <a:srgbClr val="1769AA">
                <a:alpha val="0"/>
              </a:srgbClr>
            </a:solidFill>
            <a:prstDash val="solid"/>
          </a:ln>
        </p:spPr>
      </p:sp>
      <p:sp>
        <p:nvSpPr>
          <p:cNvPr id="8" name="Text 6"/>
          <p:cNvSpPr/>
          <p:nvPr/>
        </p:nvSpPr>
        <p:spPr>
          <a:xfrm>
            <a:off x="1417320" y="2185416"/>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자연어 조건을 시나리오 변수로 변환</a:t>
            </a:r>
            <a:endParaRPr lang="en-US" sz="1250" dirty="0"/>
          </a:p>
        </p:txBody>
      </p:sp>
      <p:sp>
        <p:nvSpPr>
          <p:cNvPr id="9" name="Shape 7"/>
          <p:cNvSpPr/>
          <p:nvPr/>
        </p:nvSpPr>
        <p:spPr>
          <a:xfrm>
            <a:off x="1051560" y="2852928"/>
            <a:ext cx="201168" cy="201168"/>
          </a:xfrm>
          <a:prstGeom prst="roundRect">
            <a:avLst>
              <a:gd name="adj" fmla="val 36364"/>
            </a:avLst>
          </a:prstGeom>
          <a:solidFill>
            <a:srgbClr val="1769AA"/>
          </a:solidFill>
          <a:ln w="12700">
            <a:solidFill>
              <a:srgbClr val="1769AA">
                <a:alpha val="0"/>
              </a:srgbClr>
            </a:solidFill>
            <a:prstDash val="solid"/>
          </a:ln>
        </p:spPr>
      </p:sp>
      <p:sp>
        <p:nvSpPr>
          <p:cNvPr id="10" name="Text 8"/>
          <p:cNvSpPr/>
          <p:nvPr/>
        </p:nvSpPr>
        <p:spPr>
          <a:xfrm>
            <a:off x="1417320" y="2798064"/>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누락 가정 질문과 대안 제안</a:t>
            </a:r>
            <a:endParaRPr lang="en-US" sz="1250" dirty="0"/>
          </a:p>
        </p:txBody>
      </p:sp>
      <p:sp>
        <p:nvSpPr>
          <p:cNvPr id="11" name="Shape 9"/>
          <p:cNvSpPr/>
          <p:nvPr/>
        </p:nvSpPr>
        <p:spPr>
          <a:xfrm>
            <a:off x="1051560" y="3465576"/>
            <a:ext cx="201168" cy="201168"/>
          </a:xfrm>
          <a:prstGeom prst="roundRect">
            <a:avLst>
              <a:gd name="adj" fmla="val 36364"/>
            </a:avLst>
          </a:prstGeom>
          <a:solidFill>
            <a:srgbClr val="1769AA"/>
          </a:solidFill>
          <a:ln w="12700">
            <a:solidFill>
              <a:srgbClr val="1769AA">
                <a:alpha val="0"/>
              </a:srgbClr>
            </a:solidFill>
            <a:prstDash val="solid"/>
          </a:ln>
        </p:spPr>
      </p:sp>
      <p:sp>
        <p:nvSpPr>
          <p:cNvPr id="12" name="Text 10"/>
          <p:cNvSpPr/>
          <p:nvPr/>
        </p:nvSpPr>
        <p:spPr>
          <a:xfrm>
            <a:off x="1417320" y="3410712"/>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문서·표준·과거 사례 근거 탐색</a:t>
            </a:r>
            <a:endParaRPr lang="en-US" sz="1250" dirty="0"/>
          </a:p>
        </p:txBody>
      </p:sp>
      <p:sp>
        <p:nvSpPr>
          <p:cNvPr id="13" name="Shape 11"/>
          <p:cNvSpPr/>
          <p:nvPr/>
        </p:nvSpPr>
        <p:spPr>
          <a:xfrm>
            <a:off x="1051560" y="4078224"/>
            <a:ext cx="201168" cy="201168"/>
          </a:xfrm>
          <a:prstGeom prst="roundRect">
            <a:avLst>
              <a:gd name="adj" fmla="val 36364"/>
            </a:avLst>
          </a:prstGeom>
          <a:solidFill>
            <a:srgbClr val="1769AA"/>
          </a:solidFill>
          <a:ln w="12700">
            <a:solidFill>
              <a:srgbClr val="1769AA">
                <a:alpha val="0"/>
              </a:srgbClr>
            </a:solidFill>
            <a:prstDash val="solid"/>
          </a:ln>
        </p:spPr>
      </p:sp>
      <p:sp>
        <p:nvSpPr>
          <p:cNvPr id="14" name="Text 12"/>
          <p:cNvSpPr/>
          <p:nvPr/>
        </p:nvSpPr>
        <p:spPr>
          <a:xfrm>
            <a:off x="1417320" y="4023360"/>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결과 설명·이상 징후 요약</a:t>
            </a:r>
            <a:endParaRPr lang="en-US" sz="1250" dirty="0"/>
          </a:p>
        </p:txBody>
      </p:sp>
      <p:sp>
        <p:nvSpPr>
          <p:cNvPr id="15" name="Shape 13"/>
          <p:cNvSpPr/>
          <p:nvPr/>
        </p:nvSpPr>
        <p:spPr>
          <a:xfrm>
            <a:off x="1051560" y="4690872"/>
            <a:ext cx="201168" cy="201168"/>
          </a:xfrm>
          <a:prstGeom prst="roundRect">
            <a:avLst>
              <a:gd name="adj" fmla="val 36364"/>
            </a:avLst>
          </a:prstGeom>
          <a:solidFill>
            <a:srgbClr val="1769AA"/>
          </a:solidFill>
          <a:ln w="12700">
            <a:solidFill>
              <a:srgbClr val="1769AA">
                <a:alpha val="0"/>
              </a:srgbClr>
            </a:solidFill>
            <a:prstDash val="solid"/>
          </a:ln>
        </p:spPr>
      </p:sp>
      <p:sp>
        <p:nvSpPr>
          <p:cNvPr id="16" name="Text 14"/>
          <p:cNvSpPr/>
          <p:nvPr/>
        </p:nvSpPr>
        <p:spPr>
          <a:xfrm>
            <a:off x="1417320" y="4636008"/>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생성 앱·테스트·워크플로 설계</a:t>
            </a:r>
            <a:endParaRPr lang="en-US" sz="1250" dirty="0"/>
          </a:p>
        </p:txBody>
      </p:sp>
      <p:sp>
        <p:nvSpPr>
          <p:cNvPr id="17" name="Shape 15"/>
          <p:cNvSpPr/>
          <p:nvPr/>
        </p:nvSpPr>
        <p:spPr>
          <a:xfrm>
            <a:off x="6327648" y="1298448"/>
            <a:ext cx="5138928" cy="4535424"/>
          </a:xfrm>
          <a:prstGeom prst="roundRect">
            <a:avLst>
              <a:gd name="adj" fmla="val 1613"/>
            </a:avLst>
          </a:prstGeom>
          <a:solidFill>
            <a:srgbClr val="D7F2EE"/>
          </a:solidFill>
          <a:ln w="12700">
            <a:solidFill>
              <a:srgbClr val="D7F2EE">
                <a:alpha val="0"/>
              </a:srgbClr>
            </a:solidFill>
            <a:prstDash val="solid"/>
          </a:ln>
        </p:spPr>
      </p:sp>
      <p:sp>
        <p:nvSpPr>
          <p:cNvPr id="18" name="Text 16"/>
          <p:cNvSpPr/>
          <p:nvPr/>
        </p:nvSpPr>
        <p:spPr>
          <a:xfrm>
            <a:off x="6510528" y="1572768"/>
            <a:ext cx="4773168" cy="310896"/>
          </a:xfrm>
          <a:prstGeom prst="rect">
            <a:avLst/>
          </a:prstGeom>
          <a:noFill/>
          <a:ln/>
        </p:spPr>
        <p:txBody>
          <a:bodyPr wrap="square" lIns="762" tIns="762" rIns="762" bIns="762" rtlCol="0" anchor="ctr">
            <a:normAutofit/>
          </a:bodyPr>
          <a:lstStyle/>
          <a:p>
            <a:pPr algn="ctr" indent="0" marL="0">
              <a:buNone/>
            </a:pPr>
            <a:r>
              <a:rPr lang="en-US" sz="1900" b="1" dirty="0">
                <a:solidFill>
                  <a:srgbClr val="102A43"/>
                </a:solidFill>
                <a:latin typeface="Arial" pitchFamily="34" charset="0"/>
                <a:ea typeface="Arial" pitchFamily="34" charset="-122"/>
                <a:cs typeface="Arial" pitchFamily="34" charset="-120"/>
              </a:rPr>
              <a:t>결정론적 엔진이 맡을 일</a:t>
            </a:r>
            <a:endParaRPr lang="en-US" sz="1900" dirty="0"/>
          </a:p>
        </p:txBody>
      </p:sp>
      <p:sp>
        <p:nvSpPr>
          <p:cNvPr id="19" name="Shape 17"/>
          <p:cNvSpPr/>
          <p:nvPr/>
        </p:nvSpPr>
        <p:spPr>
          <a:xfrm>
            <a:off x="6647688" y="2240280"/>
            <a:ext cx="201168" cy="201168"/>
          </a:xfrm>
          <a:prstGeom prst="roundRect">
            <a:avLst>
              <a:gd name="adj" fmla="val 36364"/>
            </a:avLst>
          </a:prstGeom>
          <a:solidFill>
            <a:srgbClr val="007C83"/>
          </a:solidFill>
          <a:ln w="12700">
            <a:solidFill>
              <a:srgbClr val="007C83">
                <a:alpha val="0"/>
              </a:srgbClr>
            </a:solidFill>
            <a:prstDash val="solid"/>
          </a:ln>
        </p:spPr>
      </p:sp>
      <p:sp>
        <p:nvSpPr>
          <p:cNvPr id="20" name="Text 18"/>
          <p:cNvSpPr/>
          <p:nvPr/>
        </p:nvSpPr>
        <p:spPr>
          <a:xfrm>
            <a:off x="7013448" y="2185416"/>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재고·BOM·능력·수율·리드타임 계산</a:t>
            </a:r>
            <a:endParaRPr lang="en-US" sz="1250" dirty="0"/>
          </a:p>
        </p:txBody>
      </p:sp>
      <p:sp>
        <p:nvSpPr>
          <p:cNvPr id="21" name="Shape 19"/>
          <p:cNvSpPr/>
          <p:nvPr/>
        </p:nvSpPr>
        <p:spPr>
          <a:xfrm>
            <a:off x="6647688" y="2852928"/>
            <a:ext cx="201168" cy="201168"/>
          </a:xfrm>
          <a:prstGeom prst="roundRect">
            <a:avLst>
              <a:gd name="adj" fmla="val 36364"/>
            </a:avLst>
          </a:prstGeom>
          <a:solidFill>
            <a:srgbClr val="007C83"/>
          </a:solidFill>
          <a:ln w="12700">
            <a:solidFill>
              <a:srgbClr val="007C83">
                <a:alpha val="0"/>
              </a:srgbClr>
            </a:solidFill>
            <a:prstDash val="solid"/>
          </a:ln>
        </p:spPr>
      </p:sp>
      <p:sp>
        <p:nvSpPr>
          <p:cNvPr id="22" name="Text 20"/>
          <p:cNvSpPr/>
          <p:nvPr/>
        </p:nvSpPr>
        <p:spPr>
          <a:xfrm>
            <a:off x="7013448" y="2798064"/>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원가·손익·현금흐름 계산</a:t>
            </a:r>
            <a:endParaRPr lang="en-US" sz="1250" dirty="0"/>
          </a:p>
        </p:txBody>
      </p:sp>
      <p:sp>
        <p:nvSpPr>
          <p:cNvPr id="23" name="Shape 21"/>
          <p:cNvSpPr/>
          <p:nvPr/>
        </p:nvSpPr>
        <p:spPr>
          <a:xfrm>
            <a:off x="6647688" y="3465576"/>
            <a:ext cx="201168" cy="201168"/>
          </a:xfrm>
          <a:prstGeom prst="roundRect">
            <a:avLst>
              <a:gd name="adj" fmla="val 36364"/>
            </a:avLst>
          </a:prstGeom>
          <a:solidFill>
            <a:srgbClr val="007C83"/>
          </a:solidFill>
          <a:ln w="12700">
            <a:solidFill>
              <a:srgbClr val="007C83">
                <a:alpha val="0"/>
              </a:srgbClr>
            </a:solidFill>
            <a:prstDash val="solid"/>
          </a:ln>
        </p:spPr>
      </p:sp>
      <p:sp>
        <p:nvSpPr>
          <p:cNvPr id="24" name="Text 22"/>
          <p:cNvSpPr/>
          <p:nvPr/>
        </p:nvSpPr>
        <p:spPr>
          <a:xfrm>
            <a:off x="7013448" y="3410712"/>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제약조건·최적화·민감도 분석</a:t>
            </a:r>
            <a:endParaRPr lang="en-US" sz="1250" dirty="0"/>
          </a:p>
        </p:txBody>
      </p:sp>
      <p:sp>
        <p:nvSpPr>
          <p:cNvPr id="25" name="Shape 23"/>
          <p:cNvSpPr/>
          <p:nvPr/>
        </p:nvSpPr>
        <p:spPr>
          <a:xfrm>
            <a:off x="6647688" y="4078224"/>
            <a:ext cx="201168" cy="201168"/>
          </a:xfrm>
          <a:prstGeom prst="roundRect">
            <a:avLst>
              <a:gd name="adj" fmla="val 36364"/>
            </a:avLst>
          </a:prstGeom>
          <a:solidFill>
            <a:srgbClr val="007C83"/>
          </a:solidFill>
          <a:ln w="12700">
            <a:solidFill>
              <a:srgbClr val="007C83">
                <a:alpha val="0"/>
              </a:srgbClr>
            </a:solidFill>
            <a:prstDash val="solid"/>
          </a:ln>
        </p:spPr>
      </p:sp>
      <p:sp>
        <p:nvSpPr>
          <p:cNvPr id="26" name="Text 24"/>
          <p:cNvSpPr/>
          <p:nvPr/>
        </p:nvSpPr>
        <p:spPr>
          <a:xfrm>
            <a:off x="7013448" y="4023360"/>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동일 입력의 재현 가능한 반복 실행</a:t>
            </a:r>
            <a:endParaRPr lang="en-US" sz="1250" dirty="0"/>
          </a:p>
        </p:txBody>
      </p:sp>
      <p:sp>
        <p:nvSpPr>
          <p:cNvPr id="27" name="Shape 25"/>
          <p:cNvSpPr/>
          <p:nvPr/>
        </p:nvSpPr>
        <p:spPr>
          <a:xfrm>
            <a:off x="6647688" y="4690872"/>
            <a:ext cx="201168" cy="201168"/>
          </a:xfrm>
          <a:prstGeom prst="roundRect">
            <a:avLst>
              <a:gd name="adj" fmla="val 36364"/>
            </a:avLst>
          </a:prstGeom>
          <a:solidFill>
            <a:srgbClr val="007C83"/>
          </a:solidFill>
          <a:ln w="12700">
            <a:solidFill>
              <a:srgbClr val="007C83">
                <a:alpha val="0"/>
              </a:srgbClr>
            </a:solidFill>
            <a:prstDash val="solid"/>
          </a:ln>
        </p:spPr>
      </p:sp>
      <p:sp>
        <p:nvSpPr>
          <p:cNvPr id="28" name="Text 26"/>
          <p:cNvSpPr/>
          <p:nvPr/>
        </p:nvSpPr>
        <p:spPr>
          <a:xfrm>
            <a:off x="7013448" y="4636008"/>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실제값 대비 오차·백테스트</a:t>
            </a:r>
            <a:endParaRPr lang="en-US" sz="1250" dirty="0"/>
          </a:p>
        </p:txBody>
      </p:sp>
      <p:sp>
        <p:nvSpPr>
          <p:cNvPr id="29" name="Text 2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12</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비용·품질 골든포인트: “싼 모델”이 아니라 “승인된 결과당 최소 비용”</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모델별 단가가 아니라, 첫 통과율·재작업·지연·검증 결과를 함께 본다.</a:t>
            </a:r>
            <a:endParaRPr lang="en-US" sz="1050" dirty="0"/>
          </a:p>
        </p:txBody>
      </p:sp>
      <p:sp>
        <p:nvSpPr>
          <p:cNvPr id="5" name="Shape 3"/>
          <p:cNvSpPr/>
          <p:nvPr/>
        </p:nvSpPr>
        <p:spPr>
          <a:xfrm>
            <a:off x="822960" y="1207008"/>
            <a:ext cx="10469880" cy="795528"/>
          </a:xfrm>
          <a:prstGeom prst="roundRect">
            <a:avLst>
              <a:gd name="adj" fmla="val 9195"/>
            </a:avLst>
          </a:prstGeom>
          <a:solidFill>
            <a:srgbClr val="D7F2EE"/>
          </a:solidFill>
          <a:ln w="12700">
            <a:solidFill>
              <a:srgbClr val="D7F2EE">
                <a:alpha val="0"/>
              </a:srgbClr>
            </a:solidFill>
            <a:prstDash val="solid"/>
          </a:ln>
        </p:spPr>
      </p:sp>
      <p:sp>
        <p:nvSpPr>
          <p:cNvPr id="6" name="Text 4"/>
          <p:cNvSpPr/>
          <p:nvPr/>
        </p:nvSpPr>
        <p:spPr>
          <a:xfrm>
            <a:off x="1078992" y="138074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규칙·검색·캐시</a:t>
            </a:r>
            <a:endParaRPr lang="en-US" sz="1500" dirty="0"/>
          </a:p>
        </p:txBody>
      </p:sp>
      <p:sp>
        <p:nvSpPr>
          <p:cNvPr id="7" name="Text 5"/>
          <p:cNvSpPr/>
          <p:nvPr/>
        </p:nvSpPr>
        <p:spPr>
          <a:xfrm>
            <a:off x="3429000" y="137160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정형 추출, 권한, 계산, 반복 조회</a:t>
            </a:r>
            <a:endParaRPr lang="en-US" sz="1250" dirty="0"/>
          </a:p>
        </p:txBody>
      </p:sp>
      <p:sp>
        <p:nvSpPr>
          <p:cNvPr id="8" name="Text 6"/>
          <p:cNvSpPr/>
          <p:nvPr/>
        </p:nvSpPr>
        <p:spPr>
          <a:xfrm>
            <a:off x="7680960" y="137160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LLM 호출 0 또는 최소</a:t>
            </a:r>
            <a:endParaRPr lang="en-US" sz="1130" dirty="0"/>
          </a:p>
        </p:txBody>
      </p:sp>
      <p:sp>
        <p:nvSpPr>
          <p:cNvPr id="9" name="Shape 7"/>
          <p:cNvSpPr/>
          <p:nvPr/>
        </p:nvSpPr>
        <p:spPr>
          <a:xfrm>
            <a:off x="822960" y="2304288"/>
            <a:ext cx="10469880" cy="795528"/>
          </a:xfrm>
          <a:prstGeom prst="roundRect">
            <a:avLst>
              <a:gd name="adj" fmla="val 9195"/>
            </a:avLst>
          </a:prstGeom>
          <a:solidFill>
            <a:srgbClr val="E8F3FA"/>
          </a:solidFill>
          <a:ln w="12700">
            <a:solidFill>
              <a:srgbClr val="E8F3FA">
                <a:alpha val="0"/>
              </a:srgbClr>
            </a:solidFill>
            <a:prstDash val="solid"/>
          </a:ln>
        </p:spPr>
      </p:sp>
      <p:sp>
        <p:nvSpPr>
          <p:cNvPr id="10" name="Text 8"/>
          <p:cNvSpPr/>
          <p:nvPr/>
        </p:nvSpPr>
        <p:spPr>
          <a:xfrm>
            <a:off x="1078992" y="247802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저/중 비용 모델</a:t>
            </a:r>
            <a:endParaRPr lang="en-US" sz="1500" dirty="0"/>
          </a:p>
        </p:txBody>
      </p:sp>
      <p:sp>
        <p:nvSpPr>
          <p:cNvPr id="11" name="Text 9"/>
          <p:cNvSpPr/>
          <p:nvPr/>
        </p:nvSpPr>
        <p:spPr>
          <a:xfrm>
            <a:off x="3429000" y="246888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분류, 요약, 인터뷰, 문서 초안, 단위 수정</a:t>
            </a:r>
            <a:endParaRPr lang="en-US" sz="1250" dirty="0"/>
          </a:p>
        </p:txBody>
      </p:sp>
      <p:sp>
        <p:nvSpPr>
          <p:cNvPr id="12" name="Text 10"/>
          <p:cNvSpPr/>
          <p:nvPr/>
        </p:nvSpPr>
        <p:spPr>
          <a:xfrm>
            <a:off x="7680960" y="246888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근거 부족·검토 실패 시 승격</a:t>
            </a:r>
            <a:endParaRPr lang="en-US" sz="1130" dirty="0"/>
          </a:p>
        </p:txBody>
      </p:sp>
      <p:sp>
        <p:nvSpPr>
          <p:cNvPr id="13" name="Shape 11"/>
          <p:cNvSpPr/>
          <p:nvPr/>
        </p:nvSpPr>
        <p:spPr>
          <a:xfrm>
            <a:off x="822960" y="3401568"/>
            <a:ext cx="10469880" cy="795528"/>
          </a:xfrm>
          <a:prstGeom prst="roundRect">
            <a:avLst>
              <a:gd name="adj" fmla="val 9195"/>
            </a:avLst>
          </a:prstGeom>
          <a:solidFill>
            <a:srgbClr val="EFEAFE"/>
          </a:solidFill>
          <a:ln w="12700">
            <a:solidFill>
              <a:srgbClr val="EFEAFE">
                <a:alpha val="0"/>
              </a:srgbClr>
            </a:solidFill>
            <a:prstDash val="solid"/>
          </a:ln>
        </p:spPr>
      </p:sp>
      <p:sp>
        <p:nvSpPr>
          <p:cNvPr id="14" name="Text 12"/>
          <p:cNvSpPr/>
          <p:nvPr/>
        </p:nvSpPr>
        <p:spPr>
          <a:xfrm>
            <a:off x="1078992" y="357530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상위 모델</a:t>
            </a:r>
            <a:endParaRPr lang="en-US" sz="1500" dirty="0"/>
          </a:p>
        </p:txBody>
      </p:sp>
      <p:sp>
        <p:nvSpPr>
          <p:cNvPr id="15" name="Text 13"/>
          <p:cNvSpPr/>
          <p:nvPr/>
        </p:nvSpPr>
        <p:spPr>
          <a:xfrm>
            <a:off x="3429000" y="356616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복잡한 설계, 멀티파일 코드, 고위험 검토</a:t>
            </a:r>
            <a:endParaRPr lang="en-US" sz="1250" dirty="0"/>
          </a:p>
        </p:txBody>
      </p:sp>
      <p:sp>
        <p:nvSpPr>
          <p:cNvPr id="16" name="Text 14"/>
          <p:cNvSpPr/>
          <p:nvPr/>
        </p:nvSpPr>
        <p:spPr>
          <a:xfrm>
            <a:off x="7680960" y="356616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독립 품질 게이트 필수</a:t>
            </a:r>
            <a:endParaRPr lang="en-US" sz="1130" dirty="0"/>
          </a:p>
        </p:txBody>
      </p:sp>
      <p:sp>
        <p:nvSpPr>
          <p:cNvPr id="17" name="Shape 15"/>
          <p:cNvSpPr/>
          <p:nvPr/>
        </p:nvSpPr>
        <p:spPr>
          <a:xfrm>
            <a:off x="822960" y="4498848"/>
            <a:ext cx="10469880" cy="795528"/>
          </a:xfrm>
          <a:prstGeom prst="roundRect">
            <a:avLst>
              <a:gd name="adj" fmla="val 9195"/>
            </a:avLst>
          </a:prstGeom>
          <a:solidFill>
            <a:srgbClr val="FFF4E5"/>
          </a:solidFill>
          <a:ln w="12700">
            <a:solidFill>
              <a:srgbClr val="FFF4E5">
                <a:alpha val="0"/>
              </a:srgbClr>
            </a:solidFill>
            <a:prstDash val="solid"/>
          </a:ln>
        </p:spPr>
      </p:sp>
      <p:sp>
        <p:nvSpPr>
          <p:cNvPr id="18" name="Text 16"/>
          <p:cNvSpPr/>
          <p:nvPr/>
        </p:nvSpPr>
        <p:spPr>
          <a:xfrm>
            <a:off x="1078992" y="467258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사람 승인</a:t>
            </a:r>
            <a:endParaRPr lang="en-US" sz="1500" dirty="0"/>
          </a:p>
        </p:txBody>
      </p:sp>
      <p:sp>
        <p:nvSpPr>
          <p:cNvPr id="19" name="Text 17"/>
          <p:cNvSpPr/>
          <p:nvPr/>
        </p:nvSpPr>
        <p:spPr>
          <a:xfrm>
            <a:off x="3429000" y="466344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불가역 변경, 운영 배포, 고비용 재시도</a:t>
            </a:r>
            <a:endParaRPr lang="en-US" sz="1250" dirty="0"/>
          </a:p>
        </p:txBody>
      </p:sp>
      <p:sp>
        <p:nvSpPr>
          <p:cNvPr id="20" name="Text 18"/>
          <p:cNvSpPr/>
          <p:nvPr/>
        </p:nvSpPr>
        <p:spPr>
          <a:xfrm>
            <a:off x="7680960" y="466344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근거·비용·영향을 제시</a:t>
            </a:r>
            <a:endParaRPr lang="en-US" sz="1130" dirty="0"/>
          </a:p>
        </p:txBody>
      </p:sp>
      <p:sp>
        <p:nvSpPr>
          <p:cNvPr id="21" name="Text 19"/>
          <p:cNvSpPr/>
          <p:nvPr/>
        </p:nvSpPr>
        <p:spPr>
          <a:xfrm>
            <a:off x="896112" y="5897880"/>
            <a:ext cx="10287000" cy="228600"/>
          </a:xfrm>
          <a:prstGeom prst="rect">
            <a:avLst/>
          </a:prstGeom>
          <a:noFill/>
          <a:ln/>
        </p:spPr>
        <p:txBody>
          <a:bodyPr wrap="square" lIns="762" tIns="762" rIns="762" bIns="762" rtlCol="0" anchor="ctr">
            <a:normAutofit/>
          </a:bodyPr>
          <a:lstStyle/>
          <a:p>
            <a:pPr algn="ctr" indent="0" marL="0">
              <a:buNone/>
            </a:pPr>
            <a:r>
              <a:rPr lang="en-US" sz="1250" b="1" dirty="0">
                <a:solidFill>
                  <a:srgbClr val="102A43"/>
                </a:solidFill>
                <a:latin typeface="Arial" pitchFamily="34" charset="0"/>
                <a:ea typeface="Arial" pitchFamily="34" charset="-122"/>
                <a:cs typeface="Arial" pitchFamily="34" charset="-120"/>
              </a:rPr>
              <a:t>필수 텔레메트리  :  모델·단계별 토큰/비용/지연  |  첫 통과율  |  재작업률  |  승인 산출물당 비용  |  예측오차</a:t>
            </a:r>
            <a:endParaRPr lang="en-US" sz="1250" dirty="0"/>
          </a:p>
        </p:txBody>
      </p:sp>
      <p:sp>
        <p:nvSpPr>
          <p:cNvPr id="22" name="Text 20"/>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13</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구현 순서: 신뢰성 → 데이터/권한 → 단일 Twin MVP → 전사 확장</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각 단계는 다음 단계 투자 전에 실제 수용 기준을 통과해야 한다.</a:t>
            </a:r>
            <a:endParaRPr lang="en-US" sz="1050" dirty="0"/>
          </a:p>
        </p:txBody>
      </p:sp>
      <p:sp>
        <p:nvSpPr>
          <p:cNvPr id="5" name="Shape 3"/>
          <p:cNvSpPr/>
          <p:nvPr/>
        </p:nvSpPr>
        <p:spPr>
          <a:xfrm>
            <a:off x="530352" y="1719072"/>
            <a:ext cx="1417320" cy="2724912"/>
          </a:xfrm>
          <a:prstGeom prst="roundRect">
            <a:avLst>
              <a:gd name="adj" fmla="val 5161"/>
            </a:avLst>
          </a:prstGeom>
          <a:solidFill>
            <a:srgbClr val="007C83"/>
          </a:solidFill>
          <a:ln w="12700">
            <a:solidFill>
              <a:srgbClr val="007C83">
                <a:alpha val="0"/>
              </a:srgbClr>
            </a:solidFill>
            <a:prstDash val="solid"/>
          </a:ln>
        </p:spPr>
      </p:sp>
      <p:sp>
        <p:nvSpPr>
          <p:cNvPr id="6" name="Text 4"/>
          <p:cNvSpPr/>
          <p:nvPr/>
        </p:nvSpPr>
        <p:spPr>
          <a:xfrm>
            <a:off x="530352"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0</a:t>
            </a:r>
            <a:endParaRPr lang="en-US" sz="2600" dirty="0"/>
          </a:p>
        </p:txBody>
      </p:sp>
      <p:sp>
        <p:nvSpPr>
          <p:cNvPr id="7" name="Text 5"/>
          <p:cNvSpPr/>
          <p:nvPr/>
        </p:nvSpPr>
        <p:spPr>
          <a:xfrm>
            <a:off x="640080"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A-1 생산 공장 신뢰성</a:t>
            </a:r>
            <a:endParaRPr lang="en-US" sz="1150" dirty="0"/>
          </a:p>
        </p:txBody>
      </p:sp>
      <p:sp>
        <p:nvSpPr>
          <p:cNvPr id="8" name="Text 6"/>
          <p:cNvSpPr/>
          <p:nvPr/>
        </p:nvSpPr>
        <p:spPr>
          <a:xfrm>
            <a:off x="649224"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완주·실패복구·모델 라우팅 증거</a:t>
            </a:r>
            <a:endParaRPr lang="en-US" sz="860" dirty="0"/>
          </a:p>
        </p:txBody>
      </p:sp>
      <p:sp>
        <p:nvSpPr>
          <p:cNvPr id="9" name="Shape 7"/>
          <p:cNvSpPr/>
          <p:nvPr/>
        </p:nvSpPr>
        <p:spPr>
          <a:xfrm>
            <a:off x="1956816" y="3063240"/>
            <a:ext cx="201168" cy="0"/>
          </a:xfrm>
          <a:prstGeom prst="line">
            <a:avLst/>
          </a:prstGeom>
          <a:noFill/>
          <a:ln w="17780">
            <a:solidFill>
              <a:srgbClr val="9FB3C8"/>
            </a:solidFill>
            <a:prstDash val="solid"/>
            <a:tailEnd type="triangle"/>
          </a:ln>
        </p:spPr>
      </p:sp>
      <p:sp>
        <p:nvSpPr>
          <p:cNvPr id="10" name="Shape 8"/>
          <p:cNvSpPr/>
          <p:nvPr/>
        </p:nvSpPr>
        <p:spPr>
          <a:xfrm>
            <a:off x="2194560" y="1719072"/>
            <a:ext cx="1417320" cy="2724912"/>
          </a:xfrm>
          <a:prstGeom prst="roundRect">
            <a:avLst>
              <a:gd name="adj" fmla="val 5161"/>
            </a:avLst>
          </a:prstGeom>
          <a:solidFill>
            <a:srgbClr val="1769AA"/>
          </a:solidFill>
          <a:ln w="12700">
            <a:solidFill>
              <a:srgbClr val="1769AA">
                <a:alpha val="0"/>
              </a:srgbClr>
            </a:solidFill>
            <a:prstDash val="solid"/>
          </a:ln>
        </p:spPr>
      </p:sp>
      <p:sp>
        <p:nvSpPr>
          <p:cNvPr id="11" name="Text 9"/>
          <p:cNvSpPr/>
          <p:nvPr/>
        </p:nvSpPr>
        <p:spPr>
          <a:xfrm>
            <a:off x="2194560"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12" name="Text 10"/>
          <p:cNvSpPr/>
          <p:nvPr/>
        </p:nvSpPr>
        <p:spPr>
          <a:xfrm>
            <a:off x="2304288"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디지털트윈 기준모델</a:t>
            </a:r>
            <a:endParaRPr lang="en-US" sz="1150" dirty="0"/>
          </a:p>
        </p:txBody>
      </p:sp>
      <p:sp>
        <p:nvSpPr>
          <p:cNvPr id="13" name="Text 11"/>
          <p:cNvSpPr/>
          <p:nvPr/>
        </p:nvSpPr>
        <p:spPr>
          <a:xfrm>
            <a:off x="2313432"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업무흐름·KPI·데이터계약·시나리오 정의</a:t>
            </a:r>
            <a:endParaRPr lang="en-US" sz="860" dirty="0"/>
          </a:p>
        </p:txBody>
      </p:sp>
      <p:sp>
        <p:nvSpPr>
          <p:cNvPr id="14" name="Shape 12"/>
          <p:cNvSpPr/>
          <p:nvPr/>
        </p:nvSpPr>
        <p:spPr>
          <a:xfrm>
            <a:off x="3621024" y="3063240"/>
            <a:ext cx="201168" cy="0"/>
          </a:xfrm>
          <a:prstGeom prst="line">
            <a:avLst/>
          </a:prstGeom>
          <a:noFill/>
          <a:ln w="17780">
            <a:solidFill>
              <a:srgbClr val="9FB3C8"/>
            </a:solidFill>
            <a:prstDash val="solid"/>
            <a:tailEnd type="triangle"/>
          </a:ln>
        </p:spPr>
      </p:sp>
      <p:sp>
        <p:nvSpPr>
          <p:cNvPr id="15" name="Shape 13"/>
          <p:cNvSpPr/>
          <p:nvPr/>
        </p:nvSpPr>
        <p:spPr>
          <a:xfrm>
            <a:off x="3858768" y="1719072"/>
            <a:ext cx="1417320" cy="2724912"/>
          </a:xfrm>
          <a:prstGeom prst="roundRect">
            <a:avLst>
              <a:gd name="adj" fmla="val 5161"/>
            </a:avLst>
          </a:prstGeom>
          <a:solidFill>
            <a:srgbClr val="5B3FA3"/>
          </a:solidFill>
          <a:ln w="12700">
            <a:solidFill>
              <a:srgbClr val="5B3FA3">
                <a:alpha val="0"/>
              </a:srgbClr>
            </a:solidFill>
            <a:prstDash val="solid"/>
          </a:ln>
        </p:spPr>
      </p:sp>
      <p:sp>
        <p:nvSpPr>
          <p:cNvPr id="16" name="Text 14"/>
          <p:cNvSpPr/>
          <p:nvPr/>
        </p:nvSpPr>
        <p:spPr>
          <a:xfrm>
            <a:off x="3858768"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7" name="Text 15"/>
          <p:cNvSpPr/>
          <p:nvPr/>
        </p:nvSpPr>
        <p:spPr>
          <a:xfrm>
            <a:off x="3968496"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MDM·카탈로그·품질·계보 MVP</a:t>
            </a:r>
            <a:endParaRPr lang="en-US" sz="1150" dirty="0"/>
          </a:p>
        </p:txBody>
      </p:sp>
      <p:sp>
        <p:nvSpPr>
          <p:cNvPr id="18" name="Text 16"/>
          <p:cNvSpPr/>
          <p:nvPr/>
        </p:nvSpPr>
        <p:spPr>
          <a:xfrm>
            <a:off x="3977640"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원천→KPI 근거 추적</a:t>
            </a:r>
            <a:endParaRPr lang="en-US" sz="860" dirty="0"/>
          </a:p>
        </p:txBody>
      </p:sp>
      <p:sp>
        <p:nvSpPr>
          <p:cNvPr id="19" name="Shape 17"/>
          <p:cNvSpPr/>
          <p:nvPr/>
        </p:nvSpPr>
        <p:spPr>
          <a:xfrm>
            <a:off x="5285232" y="3063240"/>
            <a:ext cx="201168" cy="0"/>
          </a:xfrm>
          <a:prstGeom prst="line">
            <a:avLst/>
          </a:prstGeom>
          <a:noFill/>
          <a:ln w="17780">
            <a:solidFill>
              <a:srgbClr val="9FB3C8"/>
            </a:solidFill>
            <a:prstDash val="solid"/>
            <a:tailEnd type="triangle"/>
          </a:ln>
        </p:spPr>
      </p:sp>
      <p:sp>
        <p:nvSpPr>
          <p:cNvPr id="20" name="Shape 18"/>
          <p:cNvSpPr/>
          <p:nvPr/>
        </p:nvSpPr>
        <p:spPr>
          <a:xfrm>
            <a:off x="5522976" y="1719072"/>
            <a:ext cx="1417320" cy="2724912"/>
          </a:xfrm>
          <a:prstGeom prst="roundRect">
            <a:avLst>
              <a:gd name="adj" fmla="val 5161"/>
            </a:avLst>
          </a:prstGeom>
          <a:solidFill>
            <a:srgbClr val="C05621"/>
          </a:solidFill>
          <a:ln w="12700">
            <a:solidFill>
              <a:srgbClr val="C05621">
                <a:alpha val="0"/>
              </a:srgbClr>
            </a:solidFill>
            <a:prstDash val="solid"/>
          </a:ln>
        </p:spPr>
      </p:sp>
      <p:sp>
        <p:nvSpPr>
          <p:cNvPr id="21" name="Text 19"/>
          <p:cNvSpPr/>
          <p:nvPr/>
        </p:nvSpPr>
        <p:spPr>
          <a:xfrm>
            <a:off x="5522976"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2" name="Text 20"/>
          <p:cNvSpPr/>
          <p:nvPr/>
        </p:nvSpPr>
        <p:spPr>
          <a:xfrm>
            <a:off x="5632704"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조직권한·앱 런타임</a:t>
            </a:r>
            <a:endParaRPr lang="en-US" sz="1150" dirty="0"/>
          </a:p>
        </p:txBody>
      </p:sp>
      <p:sp>
        <p:nvSpPr>
          <p:cNvPr id="23" name="Text 21"/>
          <p:cNvSpPr/>
          <p:nvPr/>
        </p:nvSpPr>
        <p:spPr>
          <a:xfrm>
            <a:off x="5641848"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부서 격리·공통 업무 API·이벤트</a:t>
            </a:r>
            <a:endParaRPr lang="en-US" sz="860" dirty="0"/>
          </a:p>
        </p:txBody>
      </p:sp>
      <p:sp>
        <p:nvSpPr>
          <p:cNvPr id="24" name="Shape 22"/>
          <p:cNvSpPr/>
          <p:nvPr/>
        </p:nvSpPr>
        <p:spPr>
          <a:xfrm>
            <a:off x="6949440" y="3063240"/>
            <a:ext cx="201168" cy="0"/>
          </a:xfrm>
          <a:prstGeom prst="line">
            <a:avLst/>
          </a:prstGeom>
          <a:noFill/>
          <a:ln w="17780">
            <a:solidFill>
              <a:srgbClr val="9FB3C8"/>
            </a:solidFill>
            <a:prstDash val="solid"/>
            <a:tailEnd type="triangle"/>
          </a:ln>
        </p:spPr>
      </p:sp>
      <p:sp>
        <p:nvSpPr>
          <p:cNvPr id="25" name="Shape 23"/>
          <p:cNvSpPr/>
          <p:nvPr/>
        </p:nvSpPr>
        <p:spPr>
          <a:xfrm>
            <a:off x="7187184" y="1719072"/>
            <a:ext cx="1417320" cy="2724912"/>
          </a:xfrm>
          <a:prstGeom prst="roundRect">
            <a:avLst>
              <a:gd name="adj" fmla="val 5161"/>
            </a:avLst>
          </a:prstGeom>
          <a:solidFill>
            <a:srgbClr val="007C83"/>
          </a:solidFill>
          <a:ln w="12700">
            <a:solidFill>
              <a:srgbClr val="007C83">
                <a:alpha val="0"/>
              </a:srgbClr>
            </a:solidFill>
            <a:prstDash val="solid"/>
          </a:ln>
        </p:spPr>
      </p:sp>
      <p:sp>
        <p:nvSpPr>
          <p:cNvPr id="26" name="Text 24"/>
          <p:cNvSpPr/>
          <p:nvPr/>
        </p:nvSpPr>
        <p:spPr>
          <a:xfrm>
            <a:off x="7187184"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7" name="Text 25"/>
          <p:cNvSpPr/>
          <p:nvPr/>
        </p:nvSpPr>
        <p:spPr>
          <a:xfrm>
            <a:off x="7296912"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제조 Digital Twin MVP</a:t>
            </a:r>
            <a:endParaRPr lang="en-US" sz="1150" dirty="0"/>
          </a:p>
        </p:txBody>
      </p:sp>
      <p:sp>
        <p:nvSpPr>
          <p:cNvPr id="28" name="Text 26"/>
          <p:cNvSpPr/>
          <p:nvPr/>
        </p:nvSpPr>
        <p:spPr>
          <a:xfrm>
            <a:off x="7306056"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수주→손익 시뮬레이션·백테스트</a:t>
            </a:r>
            <a:endParaRPr lang="en-US" sz="860" dirty="0"/>
          </a:p>
        </p:txBody>
      </p:sp>
      <p:sp>
        <p:nvSpPr>
          <p:cNvPr id="29" name="Shape 27"/>
          <p:cNvSpPr/>
          <p:nvPr/>
        </p:nvSpPr>
        <p:spPr>
          <a:xfrm>
            <a:off x="8613648" y="3063240"/>
            <a:ext cx="201168" cy="0"/>
          </a:xfrm>
          <a:prstGeom prst="line">
            <a:avLst/>
          </a:prstGeom>
          <a:noFill/>
          <a:ln w="17780">
            <a:solidFill>
              <a:srgbClr val="9FB3C8"/>
            </a:solidFill>
            <a:prstDash val="solid"/>
            <a:tailEnd type="triangle"/>
          </a:ln>
        </p:spPr>
      </p:sp>
      <p:sp>
        <p:nvSpPr>
          <p:cNvPr id="30" name="Shape 28"/>
          <p:cNvSpPr/>
          <p:nvPr/>
        </p:nvSpPr>
        <p:spPr>
          <a:xfrm>
            <a:off x="8851392" y="1719072"/>
            <a:ext cx="1417320" cy="2724912"/>
          </a:xfrm>
          <a:prstGeom prst="roundRect">
            <a:avLst>
              <a:gd name="adj" fmla="val 5161"/>
            </a:avLst>
          </a:prstGeom>
          <a:solidFill>
            <a:srgbClr val="1769AA"/>
          </a:solidFill>
          <a:ln w="12700">
            <a:solidFill>
              <a:srgbClr val="1769AA">
                <a:alpha val="0"/>
              </a:srgbClr>
            </a:solidFill>
            <a:prstDash val="solid"/>
          </a:ln>
        </p:spPr>
      </p:sp>
      <p:sp>
        <p:nvSpPr>
          <p:cNvPr id="31" name="Text 29"/>
          <p:cNvSpPr/>
          <p:nvPr/>
        </p:nvSpPr>
        <p:spPr>
          <a:xfrm>
            <a:off x="8851392"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32" name="Text 30"/>
          <p:cNvSpPr/>
          <p:nvPr/>
        </p:nvSpPr>
        <p:spPr>
          <a:xfrm>
            <a:off x="8961120"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전사 확장·Graph RAG</a:t>
            </a:r>
            <a:endParaRPr lang="en-US" sz="1150" dirty="0"/>
          </a:p>
        </p:txBody>
      </p:sp>
      <p:sp>
        <p:nvSpPr>
          <p:cNvPr id="33" name="Text 31"/>
          <p:cNvSpPr/>
          <p:nvPr/>
        </p:nvSpPr>
        <p:spPr>
          <a:xfrm>
            <a:off x="8970264"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복수 도메인·실제 연계·경영 활용</a:t>
            </a:r>
            <a:endParaRPr lang="en-US" sz="860" dirty="0"/>
          </a:p>
        </p:txBody>
      </p:sp>
      <p:sp>
        <p:nvSpPr>
          <p:cNvPr id="34" name="Shape 32"/>
          <p:cNvSpPr/>
          <p:nvPr/>
        </p:nvSpPr>
        <p:spPr>
          <a:xfrm>
            <a:off x="10277856" y="3063240"/>
            <a:ext cx="201168" cy="0"/>
          </a:xfrm>
          <a:prstGeom prst="line">
            <a:avLst/>
          </a:prstGeom>
          <a:noFill/>
          <a:ln w="17780">
            <a:solidFill>
              <a:srgbClr val="9FB3C8"/>
            </a:solidFill>
            <a:prstDash val="solid"/>
            <a:tailEnd type="triangle"/>
          </a:ln>
        </p:spPr>
      </p:sp>
      <p:sp>
        <p:nvSpPr>
          <p:cNvPr id="35" name="Shape 33"/>
          <p:cNvSpPr/>
          <p:nvPr/>
        </p:nvSpPr>
        <p:spPr>
          <a:xfrm>
            <a:off x="10515600" y="1719072"/>
            <a:ext cx="1417320" cy="2724912"/>
          </a:xfrm>
          <a:prstGeom prst="roundRect">
            <a:avLst>
              <a:gd name="adj" fmla="val 5161"/>
            </a:avLst>
          </a:prstGeom>
          <a:solidFill>
            <a:srgbClr val="5B3FA3"/>
          </a:solidFill>
          <a:ln w="12700">
            <a:solidFill>
              <a:srgbClr val="5B3FA3">
                <a:alpha val="0"/>
              </a:srgbClr>
            </a:solidFill>
            <a:prstDash val="solid"/>
          </a:ln>
        </p:spPr>
      </p:sp>
      <p:sp>
        <p:nvSpPr>
          <p:cNvPr id="36" name="Text 34"/>
          <p:cNvSpPr/>
          <p:nvPr/>
        </p:nvSpPr>
        <p:spPr>
          <a:xfrm>
            <a:off x="10515600"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37" name="Text 35"/>
          <p:cNvSpPr/>
          <p:nvPr/>
        </p:nvSpPr>
        <p:spPr>
          <a:xfrm>
            <a:off x="10625328"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개인화</a:t>
            </a:r>
            <a:endParaRPr lang="en-US" sz="1150" dirty="0"/>
          </a:p>
        </p:txBody>
      </p:sp>
      <p:sp>
        <p:nvSpPr>
          <p:cNvPr id="38" name="Text 36"/>
          <p:cNvSpPr/>
          <p:nvPr/>
        </p:nvSpPr>
        <p:spPr>
          <a:xfrm>
            <a:off x="10634472"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권한 경계 내 역할·선호 기반 보조</a:t>
            </a:r>
            <a:endParaRPr lang="en-US" sz="860" dirty="0"/>
          </a:p>
        </p:txBody>
      </p:sp>
      <p:sp>
        <p:nvSpPr>
          <p:cNvPr id="39" name="Shape 37"/>
          <p:cNvSpPr/>
          <p:nvPr/>
        </p:nvSpPr>
        <p:spPr>
          <a:xfrm>
            <a:off x="914400" y="5212080"/>
            <a:ext cx="10287000" cy="585216"/>
          </a:xfrm>
          <a:prstGeom prst="roundRect">
            <a:avLst>
              <a:gd name="adj" fmla="val 12500"/>
            </a:avLst>
          </a:prstGeom>
          <a:solidFill>
            <a:srgbClr val="F5F7FA"/>
          </a:solidFill>
          <a:ln w="12700">
            <a:solidFill>
              <a:srgbClr val="F5F7FA">
                <a:alpha val="0"/>
              </a:srgbClr>
            </a:solidFill>
            <a:prstDash val="solid"/>
          </a:ln>
        </p:spPr>
      </p:sp>
      <p:sp>
        <p:nvSpPr>
          <p:cNvPr id="40" name="Text 38"/>
          <p:cNvSpPr/>
          <p:nvPr/>
        </p:nvSpPr>
        <p:spPr>
          <a:xfrm>
            <a:off x="1188720" y="5404104"/>
            <a:ext cx="9738360" cy="182880"/>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핵심 원칙: “다음 기능”은 이전 단계의 데이터 신뢰성·권한·운영성 수용 기준을 통과한 뒤에만 확장한다.</a:t>
            </a:r>
            <a:endParaRPr lang="en-US" sz="1300" dirty="0"/>
          </a:p>
        </p:txBody>
      </p:sp>
      <p:sp>
        <p:nvSpPr>
          <p:cNvPr id="41" name="Text 39"/>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14</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Pilot에서 실제로 보여 줄 화면과 기능</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첫 Pilot은 “데이터를 연결했다”가 아니라 “경영 질문에 근거 있는 대안을 제공했다”를 증명해야 한다.</a:t>
            </a:r>
            <a:endParaRPr lang="en-US" sz="1050" dirty="0"/>
          </a:p>
        </p:txBody>
      </p:sp>
      <p:sp>
        <p:nvSpPr>
          <p:cNvPr id="5" name="Shape 3"/>
          <p:cNvSpPr/>
          <p:nvPr/>
        </p:nvSpPr>
        <p:spPr>
          <a:xfrm>
            <a:off x="658368" y="1280160"/>
            <a:ext cx="5074920" cy="1490472"/>
          </a:xfrm>
          <a:prstGeom prst="roundRect">
            <a:avLst>
              <a:gd name="adj" fmla="val 4908"/>
            </a:avLst>
          </a:prstGeom>
          <a:solidFill>
            <a:srgbClr val="E8F3FA"/>
          </a:solidFill>
          <a:ln w="12700">
            <a:solidFill>
              <a:srgbClr val="E8F3FA">
                <a:alpha val="0"/>
              </a:srgbClr>
            </a:solidFill>
            <a:prstDash val="solid"/>
          </a:ln>
        </p:spPr>
      </p:sp>
      <p:sp>
        <p:nvSpPr>
          <p:cNvPr id="6" name="Shape 4"/>
          <p:cNvSpPr/>
          <p:nvPr/>
        </p:nvSpPr>
        <p:spPr>
          <a:xfrm>
            <a:off x="868680" y="1481328"/>
            <a:ext cx="768096" cy="768096"/>
          </a:xfrm>
          <a:prstGeom prst="roundRect">
            <a:avLst>
              <a:gd name="adj" fmla="val 9524"/>
            </a:avLst>
          </a:prstGeom>
          <a:solidFill>
            <a:srgbClr val="FFFFFF"/>
          </a:solidFill>
          <a:ln w="12700">
            <a:solidFill>
              <a:srgbClr val="FFFFFF">
                <a:alpha val="0"/>
              </a:srgbClr>
            </a:solidFill>
            <a:prstDash val="solid"/>
          </a:ln>
        </p:spPr>
      </p:sp>
      <p:sp>
        <p:nvSpPr>
          <p:cNvPr id="7" name="Text 5"/>
          <p:cNvSpPr/>
          <p:nvPr/>
        </p:nvSpPr>
        <p:spPr>
          <a:xfrm>
            <a:off x="868680" y="16916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865376" y="15270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경영 시나리오 보드</a:t>
            </a:r>
            <a:endParaRPr lang="en-US" sz="1600" dirty="0"/>
          </a:p>
        </p:txBody>
      </p:sp>
      <p:sp>
        <p:nvSpPr>
          <p:cNvPr id="9" name="Text 7"/>
          <p:cNvSpPr/>
          <p:nvPr/>
        </p:nvSpPr>
        <p:spPr>
          <a:xfrm>
            <a:off x="1865376" y="19933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기준선·가정·KPI·민감도·대안 비교</a:t>
            </a:r>
            <a:endParaRPr lang="en-US" sz="1200" dirty="0"/>
          </a:p>
        </p:txBody>
      </p:sp>
      <p:sp>
        <p:nvSpPr>
          <p:cNvPr id="10" name="Shape 8"/>
          <p:cNvSpPr/>
          <p:nvPr/>
        </p:nvSpPr>
        <p:spPr>
          <a:xfrm>
            <a:off x="6254496" y="1280160"/>
            <a:ext cx="5074920" cy="1490472"/>
          </a:xfrm>
          <a:prstGeom prst="roundRect">
            <a:avLst>
              <a:gd name="adj" fmla="val 4908"/>
            </a:avLst>
          </a:prstGeom>
          <a:solidFill>
            <a:srgbClr val="D7F2EE"/>
          </a:solidFill>
          <a:ln w="12700">
            <a:solidFill>
              <a:srgbClr val="D7F2EE">
                <a:alpha val="0"/>
              </a:srgbClr>
            </a:solidFill>
            <a:prstDash val="solid"/>
          </a:ln>
        </p:spPr>
      </p:sp>
      <p:sp>
        <p:nvSpPr>
          <p:cNvPr id="11" name="Shape 9"/>
          <p:cNvSpPr/>
          <p:nvPr/>
        </p:nvSpPr>
        <p:spPr>
          <a:xfrm>
            <a:off x="6464808" y="1481328"/>
            <a:ext cx="768096" cy="768096"/>
          </a:xfrm>
          <a:prstGeom prst="roundRect">
            <a:avLst>
              <a:gd name="adj" fmla="val 9524"/>
            </a:avLst>
          </a:prstGeom>
          <a:solidFill>
            <a:srgbClr val="FFFFFF"/>
          </a:solidFill>
          <a:ln w="12700">
            <a:solidFill>
              <a:srgbClr val="FFFFFF">
                <a:alpha val="0"/>
              </a:srgbClr>
            </a:solidFill>
            <a:prstDash val="solid"/>
          </a:ln>
        </p:spPr>
      </p:sp>
      <p:sp>
        <p:nvSpPr>
          <p:cNvPr id="12" name="Text 10"/>
          <p:cNvSpPr/>
          <p:nvPr/>
        </p:nvSpPr>
        <p:spPr>
          <a:xfrm>
            <a:off x="6464808" y="16916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7461504" y="15270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업무 상태 지도</a:t>
            </a:r>
            <a:endParaRPr lang="en-US" sz="1600" dirty="0"/>
          </a:p>
        </p:txBody>
      </p:sp>
      <p:sp>
        <p:nvSpPr>
          <p:cNvPr id="14" name="Text 12"/>
          <p:cNvSpPr/>
          <p:nvPr/>
        </p:nvSpPr>
        <p:spPr>
          <a:xfrm>
            <a:off x="7461504" y="19933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수주·재고·생산·품질·출하의 현재 상태와 병목</a:t>
            </a:r>
            <a:endParaRPr lang="en-US" sz="1200" dirty="0"/>
          </a:p>
        </p:txBody>
      </p:sp>
      <p:sp>
        <p:nvSpPr>
          <p:cNvPr id="15" name="Shape 13"/>
          <p:cNvSpPr/>
          <p:nvPr/>
        </p:nvSpPr>
        <p:spPr>
          <a:xfrm>
            <a:off x="658368" y="3337560"/>
            <a:ext cx="5074920" cy="1490472"/>
          </a:xfrm>
          <a:prstGeom prst="roundRect">
            <a:avLst>
              <a:gd name="adj" fmla="val 4908"/>
            </a:avLst>
          </a:prstGeom>
          <a:solidFill>
            <a:srgbClr val="FFF4E5"/>
          </a:solidFill>
          <a:ln w="12700">
            <a:solidFill>
              <a:srgbClr val="FFF4E5">
                <a:alpha val="0"/>
              </a:srgbClr>
            </a:solidFill>
            <a:prstDash val="solid"/>
          </a:ln>
        </p:spPr>
      </p:sp>
      <p:sp>
        <p:nvSpPr>
          <p:cNvPr id="16" name="Shape 14"/>
          <p:cNvSpPr/>
          <p:nvPr/>
        </p:nvSpPr>
        <p:spPr>
          <a:xfrm>
            <a:off x="868680" y="3538728"/>
            <a:ext cx="768096" cy="768096"/>
          </a:xfrm>
          <a:prstGeom prst="roundRect">
            <a:avLst>
              <a:gd name="adj" fmla="val 9524"/>
            </a:avLst>
          </a:prstGeom>
          <a:solidFill>
            <a:srgbClr val="FFFFFF"/>
          </a:solidFill>
          <a:ln w="12700">
            <a:solidFill>
              <a:srgbClr val="FFFFFF">
                <a:alpha val="0"/>
              </a:srgbClr>
            </a:solidFill>
            <a:prstDash val="solid"/>
          </a:ln>
        </p:spPr>
      </p:sp>
      <p:sp>
        <p:nvSpPr>
          <p:cNvPr id="17" name="Text 15"/>
          <p:cNvSpPr/>
          <p:nvPr/>
        </p:nvSpPr>
        <p:spPr>
          <a:xfrm>
            <a:off x="868680" y="37490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865376" y="35844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데이터 신뢰 패널</a:t>
            </a:r>
            <a:endParaRPr lang="en-US" sz="1600" dirty="0"/>
          </a:p>
        </p:txBody>
      </p:sp>
      <p:sp>
        <p:nvSpPr>
          <p:cNvPr id="19" name="Text 17"/>
          <p:cNvSpPr/>
          <p:nvPr/>
        </p:nvSpPr>
        <p:spPr>
          <a:xfrm>
            <a:off x="1865376" y="40507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원천·시점·품질·계보·권한·누락 경고</a:t>
            </a:r>
            <a:endParaRPr lang="en-US" sz="1200" dirty="0"/>
          </a:p>
        </p:txBody>
      </p:sp>
      <p:sp>
        <p:nvSpPr>
          <p:cNvPr id="20" name="Shape 18"/>
          <p:cNvSpPr/>
          <p:nvPr/>
        </p:nvSpPr>
        <p:spPr>
          <a:xfrm>
            <a:off x="6254496" y="3337560"/>
            <a:ext cx="5074920" cy="1490472"/>
          </a:xfrm>
          <a:prstGeom prst="roundRect">
            <a:avLst>
              <a:gd name="adj" fmla="val 4908"/>
            </a:avLst>
          </a:prstGeom>
          <a:solidFill>
            <a:srgbClr val="EFEAFE"/>
          </a:solidFill>
          <a:ln w="12700">
            <a:solidFill>
              <a:srgbClr val="EFEAFE">
                <a:alpha val="0"/>
              </a:srgbClr>
            </a:solidFill>
            <a:prstDash val="solid"/>
          </a:ln>
        </p:spPr>
      </p:sp>
      <p:sp>
        <p:nvSpPr>
          <p:cNvPr id="21" name="Shape 19"/>
          <p:cNvSpPr/>
          <p:nvPr/>
        </p:nvSpPr>
        <p:spPr>
          <a:xfrm>
            <a:off x="6464808" y="3538728"/>
            <a:ext cx="768096" cy="768096"/>
          </a:xfrm>
          <a:prstGeom prst="roundRect">
            <a:avLst>
              <a:gd name="adj" fmla="val 9524"/>
            </a:avLst>
          </a:prstGeom>
          <a:solidFill>
            <a:srgbClr val="FFFFFF"/>
          </a:solidFill>
          <a:ln w="12700">
            <a:solidFill>
              <a:srgbClr val="FFFFFF">
                <a:alpha val="0"/>
              </a:srgbClr>
            </a:solidFill>
            <a:prstDash val="solid"/>
          </a:ln>
        </p:spPr>
      </p:sp>
      <p:sp>
        <p:nvSpPr>
          <p:cNvPr id="22" name="Text 20"/>
          <p:cNvSpPr/>
          <p:nvPr/>
        </p:nvSpPr>
        <p:spPr>
          <a:xfrm>
            <a:off x="6464808" y="37490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7461504" y="35844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슈퍼바이저 대화</a:t>
            </a:r>
            <a:endParaRPr lang="en-US" sz="1600" dirty="0"/>
          </a:p>
        </p:txBody>
      </p:sp>
      <p:sp>
        <p:nvSpPr>
          <p:cNvPr id="24" name="Text 22"/>
          <p:cNvSpPr/>
          <p:nvPr/>
        </p:nvSpPr>
        <p:spPr>
          <a:xfrm>
            <a:off x="7461504" y="40507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자연어 질의, 구조화 가정 확인, 근거와 조치 제안</a:t>
            </a:r>
            <a:endParaRPr lang="en-US" sz="1200" dirty="0"/>
          </a:p>
        </p:txBody>
      </p:sp>
      <p:sp>
        <p:nvSpPr>
          <p:cNvPr id="25" name="Text 23"/>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15</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현업 사용자의 핵심 진입점: 셀프서비스 SW 생성기</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개발자가 아닌 업무 사용자가 자연어와 선택으로 필요한 앱을 만들고, 안전하게 운영·공유한다.</a:t>
            </a:r>
            <a:endParaRPr lang="en-US" sz="1050" dirty="0"/>
          </a:p>
        </p:txBody>
      </p:sp>
      <p:sp>
        <p:nvSpPr>
          <p:cNvPr id="5" name="Shape 3"/>
          <p:cNvSpPr/>
          <p:nvPr/>
        </p:nvSpPr>
        <p:spPr>
          <a:xfrm>
            <a:off x="411480" y="1627632"/>
            <a:ext cx="1554480" cy="1408176"/>
          </a:xfrm>
          <a:prstGeom prst="roundRect">
            <a:avLst>
              <a:gd name="adj" fmla="val 5195"/>
            </a:avLst>
          </a:prstGeom>
          <a:solidFill>
            <a:srgbClr val="D7F2EE"/>
          </a:solidFill>
          <a:ln w="12700">
            <a:solidFill>
              <a:srgbClr val="D7F2EE">
                <a:alpha val="0"/>
              </a:srgbClr>
            </a:solidFill>
            <a:prstDash val="solid"/>
          </a:ln>
        </p:spPr>
      </p:sp>
      <p:sp>
        <p:nvSpPr>
          <p:cNvPr id="6" name="Text 4"/>
          <p:cNvSpPr/>
          <p:nvPr/>
        </p:nvSpPr>
        <p:spPr>
          <a:xfrm>
            <a:off x="502920"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1. 업무 목적 입력</a:t>
            </a:r>
            <a:endParaRPr lang="en-US" sz="1220" dirty="0"/>
          </a:p>
        </p:txBody>
      </p:sp>
      <p:sp>
        <p:nvSpPr>
          <p:cNvPr id="7" name="Text 5"/>
          <p:cNvSpPr/>
          <p:nvPr/>
        </p:nvSpPr>
        <p:spPr>
          <a:xfrm>
            <a:off x="502920"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자연어 요청</a:t>
            </a:r>
            <a:endParaRPr lang="en-US" sz="1050" dirty="0"/>
          </a:p>
        </p:txBody>
      </p:sp>
      <p:sp>
        <p:nvSpPr>
          <p:cNvPr id="8" name="Shape 6"/>
          <p:cNvSpPr/>
          <p:nvPr/>
        </p:nvSpPr>
        <p:spPr>
          <a:xfrm>
            <a:off x="1984248" y="2331720"/>
            <a:ext cx="274320" cy="0"/>
          </a:xfrm>
          <a:prstGeom prst="line">
            <a:avLst/>
          </a:prstGeom>
          <a:noFill/>
          <a:ln w="19050">
            <a:solidFill>
              <a:srgbClr val="007C83"/>
            </a:solidFill>
            <a:prstDash val="solid"/>
            <a:tailEnd type="triangle"/>
          </a:ln>
        </p:spPr>
      </p:sp>
      <p:sp>
        <p:nvSpPr>
          <p:cNvPr id="9" name="Shape 7"/>
          <p:cNvSpPr/>
          <p:nvPr/>
        </p:nvSpPr>
        <p:spPr>
          <a:xfrm>
            <a:off x="2313432" y="1627632"/>
            <a:ext cx="1554480" cy="1408176"/>
          </a:xfrm>
          <a:prstGeom prst="roundRect">
            <a:avLst>
              <a:gd name="adj" fmla="val 5195"/>
            </a:avLst>
          </a:prstGeom>
          <a:solidFill>
            <a:srgbClr val="E8F3FA"/>
          </a:solidFill>
          <a:ln w="12700">
            <a:solidFill>
              <a:srgbClr val="E8F3FA">
                <a:alpha val="0"/>
              </a:srgbClr>
            </a:solidFill>
            <a:prstDash val="solid"/>
          </a:ln>
        </p:spPr>
      </p:sp>
      <p:sp>
        <p:nvSpPr>
          <p:cNvPr id="10" name="Text 8"/>
          <p:cNvSpPr/>
          <p:nvPr/>
        </p:nvSpPr>
        <p:spPr>
          <a:xfrm>
            <a:off x="2404872"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2. 선택형 인터뷰</a:t>
            </a:r>
            <a:endParaRPr lang="en-US" sz="1220" dirty="0"/>
          </a:p>
        </p:txBody>
      </p:sp>
      <p:sp>
        <p:nvSpPr>
          <p:cNvPr id="11" name="Text 9"/>
          <p:cNvSpPr/>
          <p:nvPr/>
        </p:nvSpPr>
        <p:spPr>
          <a:xfrm>
            <a:off x="2404872"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대상·지표·사용자</a:t>
            </a:r>
            <a:endParaRPr lang="en-US" sz="1050" dirty="0"/>
          </a:p>
        </p:txBody>
      </p:sp>
      <p:sp>
        <p:nvSpPr>
          <p:cNvPr id="12" name="Shape 10"/>
          <p:cNvSpPr/>
          <p:nvPr/>
        </p:nvSpPr>
        <p:spPr>
          <a:xfrm>
            <a:off x="3886200" y="2331720"/>
            <a:ext cx="274320" cy="0"/>
          </a:xfrm>
          <a:prstGeom prst="line">
            <a:avLst/>
          </a:prstGeom>
          <a:noFill/>
          <a:ln w="19050">
            <a:solidFill>
              <a:srgbClr val="007C83"/>
            </a:solidFill>
            <a:prstDash val="solid"/>
            <a:tailEnd type="triangle"/>
          </a:ln>
        </p:spPr>
      </p:sp>
      <p:sp>
        <p:nvSpPr>
          <p:cNvPr id="13" name="Shape 11"/>
          <p:cNvSpPr/>
          <p:nvPr/>
        </p:nvSpPr>
        <p:spPr>
          <a:xfrm>
            <a:off x="4215384" y="1627632"/>
            <a:ext cx="1554480" cy="1408176"/>
          </a:xfrm>
          <a:prstGeom prst="roundRect">
            <a:avLst>
              <a:gd name="adj" fmla="val 5195"/>
            </a:avLst>
          </a:prstGeom>
          <a:solidFill>
            <a:srgbClr val="EFEAFE"/>
          </a:solidFill>
          <a:ln w="12700">
            <a:solidFill>
              <a:srgbClr val="EFEAFE">
                <a:alpha val="0"/>
              </a:srgbClr>
            </a:solidFill>
            <a:prstDash val="solid"/>
          </a:ln>
        </p:spPr>
      </p:sp>
      <p:sp>
        <p:nvSpPr>
          <p:cNvPr id="14" name="Text 12"/>
          <p:cNvSpPr/>
          <p:nvPr/>
        </p:nvSpPr>
        <p:spPr>
          <a:xfrm>
            <a:off x="4306824"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3. 재사용 추천</a:t>
            </a:r>
            <a:endParaRPr lang="en-US" sz="1220" dirty="0"/>
          </a:p>
        </p:txBody>
      </p:sp>
      <p:sp>
        <p:nvSpPr>
          <p:cNvPr id="15" name="Text 13"/>
          <p:cNvSpPr/>
          <p:nvPr/>
        </p:nvSpPr>
        <p:spPr>
          <a:xfrm>
            <a:off x="4306824"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앱·템플릿·데이터</a:t>
            </a:r>
            <a:endParaRPr lang="en-US" sz="1050" dirty="0"/>
          </a:p>
        </p:txBody>
      </p:sp>
      <p:sp>
        <p:nvSpPr>
          <p:cNvPr id="16" name="Shape 14"/>
          <p:cNvSpPr/>
          <p:nvPr/>
        </p:nvSpPr>
        <p:spPr>
          <a:xfrm>
            <a:off x="5788152" y="2331720"/>
            <a:ext cx="274320" cy="0"/>
          </a:xfrm>
          <a:prstGeom prst="line">
            <a:avLst/>
          </a:prstGeom>
          <a:noFill/>
          <a:ln w="19050">
            <a:solidFill>
              <a:srgbClr val="007C83"/>
            </a:solidFill>
            <a:prstDash val="solid"/>
            <a:tailEnd type="triangle"/>
          </a:ln>
        </p:spPr>
      </p:sp>
      <p:sp>
        <p:nvSpPr>
          <p:cNvPr id="17" name="Shape 15"/>
          <p:cNvSpPr/>
          <p:nvPr/>
        </p:nvSpPr>
        <p:spPr>
          <a:xfrm>
            <a:off x="6117336" y="1627632"/>
            <a:ext cx="1554480" cy="1408176"/>
          </a:xfrm>
          <a:prstGeom prst="roundRect">
            <a:avLst>
              <a:gd name="adj" fmla="val 5195"/>
            </a:avLst>
          </a:prstGeom>
          <a:solidFill>
            <a:srgbClr val="FFF4E5"/>
          </a:solidFill>
          <a:ln w="12700">
            <a:solidFill>
              <a:srgbClr val="FFF4E5">
                <a:alpha val="0"/>
              </a:srgbClr>
            </a:solidFill>
            <a:prstDash val="solid"/>
          </a:ln>
        </p:spPr>
      </p:sp>
      <p:sp>
        <p:nvSpPr>
          <p:cNvPr id="18" name="Text 16"/>
          <p:cNvSpPr/>
          <p:nvPr/>
        </p:nvSpPr>
        <p:spPr>
          <a:xfrm>
            <a:off x="6208776"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4. 설계 미리보기</a:t>
            </a:r>
            <a:endParaRPr lang="en-US" sz="1220" dirty="0"/>
          </a:p>
        </p:txBody>
      </p:sp>
      <p:sp>
        <p:nvSpPr>
          <p:cNvPr id="19" name="Text 17"/>
          <p:cNvSpPr/>
          <p:nvPr/>
        </p:nvSpPr>
        <p:spPr>
          <a:xfrm>
            <a:off x="6208776"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화면·권한·비용</a:t>
            </a:r>
            <a:endParaRPr lang="en-US" sz="1050" dirty="0"/>
          </a:p>
        </p:txBody>
      </p:sp>
      <p:sp>
        <p:nvSpPr>
          <p:cNvPr id="20" name="Shape 18"/>
          <p:cNvSpPr/>
          <p:nvPr/>
        </p:nvSpPr>
        <p:spPr>
          <a:xfrm>
            <a:off x="7690104" y="2331720"/>
            <a:ext cx="274320" cy="0"/>
          </a:xfrm>
          <a:prstGeom prst="line">
            <a:avLst/>
          </a:prstGeom>
          <a:noFill/>
          <a:ln w="19050">
            <a:solidFill>
              <a:srgbClr val="007C83"/>
            </a:solidFill>
            <a:prstDash val="solid"/>
            <a:tailEnd type="triangle"/>
          </a:ln>
        </p:spPr>
      </p:sp>
      <p:sp>
        <p:nvSpPr>
          <p:cNvPr id="21" name="Shape 19"/>
          <p:cNvSpPr/>
          <p:nvPr/>
        </p:nvSpPr>
        <p:spPr>
          <a:xfrm>
            <a:off x="8019288" y="1627632"/>
            <a:ext cx="1554480" cy="1408176"/>
          </a:xfrm>
          <a:prstGeom prst="roundRect">
            <a:avLst>
              <a:gd name="adj" fmla="val 5195"/>
            </a:avLst>
          </a:prstGeom>
          <a:solidFill>
            <a:srgbClr val="D7F2EE"/>
          </a:solidFill>
          <a:ln w="12700">
            <a:solidFill>
              <a:srgbClr val="D7F2EE">
                <a:alpha val="0"/>
              </a:srgbClr>
            </a:solidFill>
            <a:prstDash val="solid"/>
          </a:ln>
        </p:spPr>
      </p:sp>
      <p:sp>
        <p:nvSpPr>
          <p:cNvPr id="22" name="Text 20"/>
          <p:cNvSpPr/>
          <p:nvPr/>
        </p:nvSpPr>
        <p:spPr>
          <a:xfrm>
            <a:off x="8110728"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5. 생성·검증</a:t>
            </a:r>
            <a:endParaRPr lang="en-US" sz="1220" dirty="0"/>
          </a:p>
        </p:txBody>
      </p:sp>
      <p:sp>
        <p:nvSpPr>
          <p:cNvPr id="23" name="Text 21"/>
          <p:cNvSpPr/>
          <p:nvPr/>
        </p:nvSpPr>
        <p:spPr>
          <a:xfrm>
            <a:off x="8110728"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코드·테스트·보안</a:t>
            </a:r>
            <a:endParaRPr lang="en-US" sz="1050" dirty="0"/>
          </a:p>
        </p:txBody>
      </p:sp>
      <p:sp>
        <p:nvSpPr>
          <p:cNvPr id="24" name="Shape 22"/>
          <p:cNvSpPr/>
          <p:nvPr/>
        </p:nvSpPr>
        <p:spPr>
          <a:xfrm>
            <a:off x="9592056" y="2331720"/>
            <a:ext cx="274320" cy="0"/>
          </a:xfrm>
          <a:prstGeom prst="line">
            <a:avLst/>
          </a:prstGeom>
          <a:noFill/>
          <a:ln w="19050">
            <a:solidFill>
              <a:srgbClr val="007C83"/>
            </a:solidFill>
            <a:prstDash val="solid"/>
            <a:tailEnd type="triangle"/>
          </a:ln>
        </p:spPr>
      </p:sp>
      <p:sp>
        <p:nvSpPr>
          <p:cNvPr id="25" name="Shape 23"/>
          <p:cNvSpPr/>
          <p:nvPr/>
        </p:nvSpPr>
        <p:spPr>
          <a:xfrm>
            <a:off x="9921240" y="1627632"/>
            <a:ext cx="1554480" cy="1408176"/>
          </a:xfrm>
          <a:prstGeom prst="roundRect">
            <a:avLst>
              <a:gd name="adj" fmla="val 5195"/>
            </a:avLst>
          </a:prstGeom>
          <a:solidFill>
            <a:srgbClr val="E8F3FA"/>
          </a:solidFill>
          <a:ln w="12700">
            <a:solidFill>
              <a:srgbClr val="E8F3FA">
                <a:alpha val="0"/>
              </a:srgbClr>
            </a:solidFill>
            <a:prstDash val="solid"/>
          </a:ln>
        </p:spPr>
      </p:sp>
      <p:sp>
        <p:nvSpPr>
          <p:cNvPr id="26" name="Text 24"/>
          <p:cNvSpPr/>
          <p:nvPr/>
        </p:nvSpPr>
        <p:spPr>
          <a:xfrm>
            <a:off x="10012680" y="1920240"/>
            <a:ext cx="1371600" cy="320040"/>
          </a:xfrm>
          <a:prstGeom prst="rect">
            <a:avLst/>
          </a:prstGeom>
          <a:noFill/>
          <a:ln/>
        </p:spPr>
        <p:txBody>
          <a:bodyPr wrap="square" lIns="762" tIns="762" rIns="762" bIns="762" rtlCol="0" anchor="ctr">
            <a:normAutofit/>
          </a:bodyPr>
          <a:lstStyle/>
          <a:p>
            <a:pPr algn="ctr" indent="0" marL="0">
              <a:buNone/>
            </a:pPr>
            <a:r>
              <a:rPr lang="en-US" sz="1220" b="1" dirty="0">
                <a:solidFill>
                  <a:srgbClr val="102A43"/>
                </a:solidFill>
                <a:latin typeface="Arial" pitchFamily="34" charset="0"/>
                <a:ea typeface="Arial" pitchFamily="34" charset="-122"/>
                <a:cs typeface="Arial" pitchFamily="34" charset="-120"/>
              </a:rPr>
              <a:t>6. 배포·공유</a:t>
            </a:r>
            <a:endParaRPr lang="en-US" sz="1220" dirty="0"/>
          </a:p>
        </p:txBody>
      </p:sp>
      <p:sp>
        <p:nvSpPr>
          <p:cNvPr id="27" name="Text 25"/>
          <p:cNvSpPr/>
          <p:nvPr/>
        </p:nvSpPr>
        <p:spPr>
          <a:xfrm>
            <a:off x="10012680" y="2514600"/>
            <a:ext cx="1371600" cy="219456"/>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부서 카탈로그·운영</a:t>
            </a:r>
            <a:endParaRPr lang="en-US" sz="1050" dirty="0"/>
          </a:p>
        </p:txBody>
      </p:sp>
      <p:sp>
        <p:nvSpPr>
          <p:cNvPr id="28" name="Shape 26"/>
          <p:cNvSpPr/>
          <p:nvPr/>
        </p:nvSpPr>
        <p:spPr>
          <a:xfrm>
            <a:off x="749808" y="3794760"/>
            <a:ext cx="3246120" cy="1170432"/>
          </a:xfrm>
          <a:prstGeom prst="roundRect">
            <a:avLst>
              <a:gd name="adj" fmla="val 6250"/>
            </a:avLst>
          </a:prstGeom>
          <a:solidFill>
            <a:srgbClr val="E8F3FA"/>
          </a:solidFill>
          <a:ln w="12700">
            <a:solidFill>
              <a:srgbClr val="E8F3FA">
                <a:alpha val="0"/>
              </a:srgbClr>
            </a:solidFill>
            <a:prstDash val="solid"/>
          </a:ln>
        </p:spPr>
      </p:sp>
      <p:sp>
        <p:nvSpPr>
          <p:cNvPr id="29" name="Text 27"/>
          <p:cNvSpPr/>
          <p:nvPr/>
        </p:nvSpPr>
        <p:spPr>
          <a:xfrm>
            <a:off x="914400" y="3931920"/>
            <a:ext cx="291693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사용자는 결정한다</a:t>
            </a:r>
            <a:endParaRPr lang="en-US" sz="1500" dirty="0"/>
          </a:p>
        </p:txBody>
      </p:sp>
      <p:sp>
        <p:nvSpPr>
          <p:cNvPr id="30" name="Text 28"/>
          <p:cNvSpPr/>
          <p:nvPr/>
        </p:nvSpPr>
        <p:spPr>
          <a:xfrm>
            <a:off x="914400" y="4251960"/>
            <a:ext cx="2916936" cy="60350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업무 목적 · 데이터 사용 범위 · 승인 · 공개 범위</a:t>
            </a:r>
            <a:endParaRPr lang="en-US" sz="1100" dirty="0"/>
          </a:p>
        </p:txBody>
      </p:sp>
      <p:sp>
        <p:nvSpPr>
          <p:cNvPr id="31" name="Shape 29"/>
          <p:cNvSpPr/>
          <p:nvPr/>
        </p:nvSpPr>
        <p:spPr>
          <a:xfrm>
            <a:off x="4498848" y="3794760"/>
            <a:ext cx="3246120" cy="1170432"/>
          </a:xfrm>
          <a:prstGeom prst="roundRect">
            <a:avLst>
              <a:gd name="adj" fmla="val 6250"/>
            </a:avLst>
          </a:prstGeom>
          <a:solidFill>
            <a:srgbClr val="D7F2EE"/>
          </a:solidFill>
          <a:ln w="12700">
            <a:solidFill>
              <a:srgbClr val="D7F2EE">
                <a:alpha val="0"/>
              </a:srgbClr>
            </a:solidFill>
            <a:prstDash val="solid"/>
          </a:ln>
        </p:spPr>
      </p:sp>
      <p:sp>
        <p:nvSpPr>
          <p:cNvPr id="32" name="Text 30"/>
          <p:cNvSpPr/>
          <p:nvPr/>
        </p:nvSpPr>
        <p:spPr>
          <a:xfrm>
            <a:off x="4663440" y="3931920"/>
            <a:ext cx="291693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시스템이 수행한다</a:t>
            </a:r>
            <a:endParaRPr lang="en-US" sz="1500" dirty="0"/>
          </a:p>
        </p:txBody>
      </p:sp>
      <p:sp>
        <p:nvSpPr>
          <p:cNvPr id="33" name="Text 31"/>
          <p:cNvSpPr/>
          <p:nvPr/>
        </p:nvSpPr>
        <p:spPr>
          <a:xfrm>
            <a:off x="4663440" y="4251960"/>
            <a:ext cx="2916936" cy="60350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인터뷰 · 설계 · 코드 · 테스트 · 정책 검사 · 배포</a:t>
            </a:r>
            <a:endParaRPr lang="en-US" sz="1100" dirty="0"/>
          </a:p>
        </p:txBody>
      </p:sp>
      <p:sp>
        <p:nvSpPr>
          <p:cNvPr id="34" name="Shape 32"/>
          <p:cNvSpPr/>
          <p:nvPr/>
        </p:nvSpPr>
        <p:spPr>
          <a:xfrm>
            <a:off x="8247888" y="3794760"/>
            <a:ext cx="3246120" cy="1170432"/>
          </a:xfrm>
          <a:prstGeom prst="roundRect">
            <a:avLst>
              <a:gd name="adj" fmla="val 6250"/>
            </a:avLst>
          </a:prstGeom>
          <a:solidFill>
            <a:srgbClr val="EFEAFE"/>
          </a:solidFill>
          <a:ln w="12700">
            <a:solidFill>
              <a:srgbClr val="EFEAFE">
                <a:alpha val="0"/>
              </a:srgbClr>
            </a:solidFill>
            <a:prstDash val="solid"/>
          </a:ln>
        </p:spPr>
      </p:sp>
      <p:sp>
        <p:nvSpPr>
          <p:cNvPr id="35" name="Text 33"/>
          <p:cNvSpPr/>
          <p:nvPr/>
        </p:nvSpPr>
        <p:spPr>
          <a:xfrm>
            <a:off x="8412480" y="3931920"/>
            <a:ext cx="291693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운영에 남긴다</a:t>
            </a:r>
            <a:endParaRPr lang="en-US" sz="1500" dirty="0"/>
          </a:p>
        </p:txBody>
      </p:sp>
      <p:sp>
        <p:nvSpPr>
          <p:cNvPr id="36" name="Text 34"/>
          <p:cNvSpPr/>
          <p:nvPr/>
        </p:nvSpPr>
        <p:spPr>
          <a:xfrm>
            <a:off x="8412480" y="4251960"/>
            <a:ext cx="2916936" cy="60350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앱 레지스트리 · 데이터 계약 · 권한 · 버전 · 비용 · 피드백</a:t>
            </a:r>
            <a:endParaRPr lang="en-US" sz="1100" dirty="0"/>
          </a:p>
        </p:txBody>
      </p:sp>
      <p:sp>
        <p:nvSpPr>
          <p:cNvPr id="37" name="Shape 35"/>
          <p:cNvSpPr/>
          <p:nvPr/>
        </p:nvSpPr>
        <p:spPr>
          <a:xfrm>
            <a:off x="914400" y="5577840"/>
            <a:ext cx="10287000" cy="502920"/>
          </a:xfrm>
          <a:prstGeom prst="roundRect">
            <a:avLst>
              <a:gd name="adj" fmla="val 14545"/>
            </a:avLst>
          </a:prstGeom>
          <a:solidFill>
            <a:srgbClr val="102A43"/>
          </a:solidFill>
          <a:ln w="12700">
            <a:solidFill>
              <a:srgbClr val="102A43">
                <a:alpha val="0"/>
              </a:srgbClr>
            </a:solidFill>
            <a:prstDash val="solid"/>
          </a:ln>
        </p:spPr>
      </p:sp>
      <p:sp>
        <p:nvSpPr>
          <p:cNvPr id="38" name="Text 36"/>
          <p:cNvSpPr/>
          <p:nvPr/>
        </p:nvSpPr>
        <p:spPr>
          <a:xfrm>
            <a:off x="1069848" y="5742432"/>
            <a:ext cx="9966960" cy="182880"/>
          </a:xfrm>
          <a:prstGeom prst="rect">
            <a:avLst/>
          </a:prstGeom>
          <a:noFill/>
          <a:ln/>
        </p:spPr>
        <p:txBody>
          <a:bodyPr wrap="square" lIns="762" tIns="762" rIns="762" bIns="762" rtlCol="0" anchor="ctr">
            <a:normAutofit/>
          </a:bodyPr>
          <a:lstStyle/>
          <a:p>
            <a:pPr algn="ctr" indent="0" marL="0">
              <a:buNone/>
            </a:pPr>
            <a:r>
              <a:rPr lang="en-US" sz="1280" b="1" dirty="0">
                <a:solidFill>
                  <a:srgbClr val="FFFFFF"/>
                </a:solidFill>
                <a:latin typeface="Arial" pitchFamily="34" charset="0"/>
                <a:ea typeface="Arial" pitchFamily="34" charset="-122"/>
                <a:cs typeface="Arial" pitchFamily="34" charset="-120"/>
              </a:rPr>
              <a:t>배포 원칙  :  자연어 요청 → 설계 미리보기 → 데이터/권한 승인 → 샌드박스 UAT → 운영 승격 → 피드백 기반 버전 진화</a:t>
            </a:r>
            <a:endParaRPr lang="en-US" sz="1280" dirty="0"/>
          </a:p>
        </p:txBody>
      </p:sp>
      <p:sp>
        <p:nvSpPr>
          <p:cNvPr id="39" name="Text 3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685800" y="640080"/>
            <a:ext cx="1828800" cy="347472"/>
          </a:xfrm>
          <a:prstGeom prst="rect">
            <a:avLst/>
          </a:prstGeom>
          <a:noFill/>
          <a:ln/>
        </p:spPr>
        <p:txBody>
          <a:bodyPr wrap="square" lIns="762" tIns="762" rIns="762" bIns="762" rtlCol="0" anchor="ctr">
            <a:normAutofit/>
          </a:bodyPr>
          <a:lstStyle/>
          <a:p>
            <a:pPr algn="l" indent="0" marL="0">
              <a:buNone/>
            </a:pPr>
            <a:r>
              <a:rPr lang="en-US" sz="2000" b="1" dirty="0">
                <a:solidFill>
                  <a:srgbClr val="6DE0D1"/>
                </a:solidFill>
                <a:latin typeface="Arial" pitchFamily="34" charset="0"/>
                <a:ea typeface="Arial" pitchFamily="34" charset="-122"/>
                <a:cs typeface="Arial" pitchFamily="34" charset="-120"/>
              </a:rPr>
              <a:t>결론</a:t>
            </a:r>
            <a:endParaRPr lang="en-US" sz="2000" dirty="0"/>
          </a:p>
        </p:txBody>
      </p:sp>
      <p:sp>
        <p:nvSpPr>
          <p:cNvPr id="3" name="Text 1"/>
          <p:cNvSpPr/>
          <p:nvPr/>
        </p:nvSpPr>
        <p:spPr>
          <a:xfrm>
            <a:off x="685800" y="1261872"/>
            <a:ext cx="9966960" cy="1051560"/>
          </a:xfrm>
          <a:prstGeom prst="rect">
            <a:avLst/>
          </a:prstGeom>
          <a:noFill/>
          <a:ln/>
        </p:spPr>
        <p:txBody>
          <a:bodyPr wrap="square" lIns="762" tIns="762" rIns="762" bIns="762" rtlCol="0" anchor="t">
            <a:normAutofit/>
          </a:bodyPr>
          <a:lstStyle/>
          <a:p>
            <a:pPr algn="l" indent="0" marL="0">
              <a:buNone/>
            </a:pPr>
            <a:r>
              <a:rPr lang="en-US" sz="3000" b="1" dirty="0">
                <a:solidFill>
                  <a:srgbClr val="FFFFFF"/>
                </a:solidFill>
                <a:latin typeface="Arial" pitchFamily="34" charset="0"/>
                <a:ea typeface="Arial" pitchFamily="34" charset="-122"/>
                <a:cs typeface="Arial" pitchFamily="34" charset="-120"/>
              </a:rPr>
              <a:t>우리는 “AI가 앱을 만드는 시스템”을 넘어</a:t>
            </a:r>
            <a:endParaRPr lang="en-US" sz="3000" dirty="0"/>
          </a:p>
          <a:p>
            <a:pPr algn="l" indent="0" marL="0">
              <a:buNone/>
            </a:pPr>
            <a:r>
              <a:rPr lang="en-US" sz="3000" b="1" dirty="0">
                <a:solidFill>
                  <a:srgbClr val="FFFFFF"/>
                </a:solidFill>
                <a:latin typeface="Arial" pitchFamily="34" charset="0"/>
                <a:ea typeface="Arial" pitchFamily="34" charset="-122"/>
                <a:cs typeface="Arial" pitchFamily="34" charset="-120"/>
              </a:rPr>
              <a:t>“회사의 미래를 함께 계산하고 통제하는 시스템”을 만든다.</a:t>
            </a:r>
            <a:endParaRPr lang="en-US" sz="3000" dirty="0"/>
          </a:p>
        </p:txBody>
      </p:sp>
      <p:sp>
        <p:nvSpPr>
          <p:cNvPr id="4" name="Shape 2"/>
          <p:cNvSpPr/>
          <p:nvPr/>
        </p:nvSpPr>
        <p:spPr>
          <a:xfrm>
            <a:off x="822960" y="2880360"/>
            <a:ext cx="2011680" cy="384048"/>
          </a:xfrm>
          <a:prstGeom prst="roundRect">
            <a:avLst>
              <a:gd name="adj" fmla="val 19048"/>
            </a:avLst>
          </a:prstGeom>
          <a:solidFill>
            <a:srgbClr val="007C83"/>
          </a:solidFill>
          <a:ln w="12700">
            <a:solidFill>
              <a:srgbClr val="007C83">
                <a:alpha val="0"/>
              </a:srgbClr>
            </a:solidFill>
            <a:prstDash val="solid"/>
          </a:ln>
        </p:spPr>
      </p:sp>
      <p:sp>
        <p:nvSpPr>
          <p:cNvPr id="5" name="Text 3"/>
          <p:cNvSpPr/>
          <p:nvPr/>
        </p:nvSpPr>
        <p:spPr>
          <a:xfrm>
            <a:off x="822960" y="2980944"/>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지금</a:t>
            </a:r>
            <a:endParaRPr lang="en-US" sz="1100" dirty="0"/>
          </a:p>
        </p:txBody>
      </p:sp>
      <p:sp>
        <p:nvSpPr>
          <p:cNvPr id="6" name="Text 4"/>
          <p:cNvSpPr/>
          <p:nvPr/>
        </p:nvSpPr>
        <p:spPr>
          <a:xfrm>
            <a:off x="3108960" y="2944368"/>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A-1 신뢰성 증명</a:t>
            </a:r>
            <a:endParaRPr lang="en-US" sz="1500" dirty="0"/>
          </a:p>
        </p:txBody>
      </p:sp>
      <p:sp>
        <p:nvSpPr>
          <p:cNvPr id="7" name="Shape 5"/>
          <p:cNvSpPr/>
          <p:nvPr/>
        </p:nvSpPr>
        <p:spPr>
          <a:xfrm>
            <a:off x="822960" y="3465576"/>
            <a:ext cx="2011680" cy="384048"/>
          </a:xfrm>
          <a:prstGeom prst="roundRect">
            <a:avLst>
              <a:gd name="adj" fmla="val 19048"/>
            </a:avLst>
          </a:prstGeom>
          <a:solidFill>
            <a:srgbClr val="244A63"/>
          </a:solidFill>
          <a:ln w="12700">
            <a:solidFill>
              <a:srgbClr val="244A63">
                <a:alpha val="0"/>
              </a:srgbClr>
            </a:solidFill>
            <a:prstDash val="solid"/>
          </a:ln>
        </p:spPr>
      </p:sp>
      <p:sp>
        <p:nvSpPr>
          <p:cNvPr id="8" name="Text 6"/>
          <p:cNvSpPr/>
          <p:nvPr/>
        </p:nvSpPr>
        <p:spPr>
          <a:xfrm>
            <a:off x="822960" y="3566160"/>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다음</a:t>
            </a:r>
            <a:endParaRPr lang="en-US" sz="1100" dirty="0"/>
          </a:p>
        </p:txBody>
      </p:sp>
      <p:sp>
        <p:nvSpPr>
          <p:cNvPr id="9" name="Text 7"/>
          <p:cNvSpPr/>
          <p:nvPr/>
        </p:nvSpPr>
        <p:spPr>
          <a:xfrm>
            <a:off x="3108960" y="3529584"/>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디지털트윈 기준모델과 Pilot 범위 확정</a:t>
            </a:r>
            <a:endParaRPr lang="en-US" sz="1500" dirty="0"/>
          </a:p>
        </p:txBody>
      </p:sp>
      <p:sp>
        <p:nvSpPr>
          <p:cNvPr id="10" name="Shape 8"/>
          <p:cNvSpPr/>
          <p:nvPr/>
        </p:nvSpPr>
        <p:spPr>
          <a:xfrm>
            <a:off x="822960" y="4050792"/>
            <a:ext cx="2011680" cy="384048"/>
          </a:xfrm>
          <a:prstGeom prst="roundRect">
            <a:avLst>
              <a:gd name="adj" fmla="val 19048"/>
            </a:avLst>
          </a:prstGeom>
          <a:solidFill>
            <a:srgbClr val="244A63"/>
          </a:solidFill>
          <a:ln w="12700">
            <a:solidFill>
              <a:srgbClr val="244A63">
                <a:alpha val="0"/>
              </a:srgbClr>
            </a:solidFill>
            <a:prstDash val="solid"/>
          </a:ln>
        </p:spPr>
      </p:sp>
      <p:sp>
        <p:nvSpPr>
          <p:cNvPr id="11" name="Text 9"/>
          <p:cNvSpPr/>
          <p:nvPr/>
        </p:nvSpPr>
        <p:spPr>
          <a:xfrm>
            <a:off x="822960" y="4151376"/>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핵심 기반</a:t>
            </a:r>
            <a:endParaRPr lang="en-US" sz="1100" dirty="0"/>
          </a:p>
        </p:txBody>
      </p:sp>
      <p:sp>
        <p:nvSpPr>
          <p:cNvPr id="12" name="Text 10"/>
          <p:cNvSpPr/>
          <p:nvPr/>
        </p:nvSpPr>
        <p:spPr>
          <a:xfrm>
            <a:off x="3108960" y="4114800"/>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MDM + 데이터 카탈로그 + 품질/계보 + 권한</a:t>
            </a:r>
            <a:endParaRPr lang="en-US" sz="1500" dirty="0"/>
          </a:p>
        </p:txBody>
      </p:sp>
      <p:sp>
        <p:nvSpPr>
          <p:cNvPr id="13" name="Shape 11"/>
          <p:cNvSpPr/>
          <p:nvPr/>
        </p:nvSpPr>
        <p:spPr>
          <a:xfrm>
            <a:off x="822960" y="4636008"/>
            <a:ext cx="2011680" cy="384048"/>
          </a:xfrm>
          <a:prstGeom prst="roundRect">
            <a:avLst>
              <a:gd name="adj" fmla="val 19048"/>
            </a:avLst>
          </a:prstGeom>
          <a:solidFill>
            <a:srgbClr val="244A63"/>
          </a:solidFill>
          <a:ln w="12700">
            <a:solidFill>
              <a:srgbClr val="244A63">
                <a:alpha val="0"/>
              </a:srgbClr>
            </a:solidFill>
            <a:prstDash val="solid"/>
          </a:ln>
        </p:spPr>
      </p:sp>
      <p:sp>
        <p:nvSpPr>
          <p:cNvPr id="14" name="Text 12"/>
          <p:cNvSpPr/>
          <p:nvPr/>
        </p:nvSpPr>
        <p:spPr>
          <a:xfrm>
            <a:off x="822960" y="4736592"/>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차별점</a:t>
            </a:r>
            <a:endParaRPr lang="en-US" sz="1100" dirty="0"/>
          </a:p>
        </p:txBody>
      </p:sp>
      <p:sp>
        <p:nvSpPr>
          <p:cNvPr id="15" name="Text 13"/>
          <p:cNvSpPr/>
          <p:nvPr/>
        </p:nvSpPr>
        <p:spPr>
          <a:xfrm>
            <a:off x="3108960" y="4700016"/>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비용 최소·품질 최대의 AI 운영 경제성</a:t>
            </a:r>
            <a:endParaRPr lang="en-US" sz="1500" dirty="0"/>
          </a:p>
        </p:txBody>
      </p:sp>
      <p:sp>
        <p:nvSpPr>
          <p:cNvPr id="16" name="Shape 14"/>
          <p:cNvSpPr/>
          <p:nvPr/>
        </p:nvSpPr>
        <p:spPr>
          <a:xfrm>
            <a:off x="822960" y="5221224"/>
            <a:ext cx="2011680" cy="384048"/>
          </a:xfrm>
          <a:prstGeom prst="roundRect">
            <a:avLst>
              <a:gd name="adj" fmla="val 19048"/>
            </a:avLst>
          </a:prstGeom>
          <a:solidFill>
            <a:srgbClr val="244A63"/>
          </a:solidFill>
          <a:ln w="12700">
            <a:solidFill>
              <a:srgbClr val="244A63">
                <a:alpha val="0"/>
              </a:srgbClr>
            </a:solidFill>
            <a:prstDash val="solid"/>
          </a:ln>
        </p:spPr>
      </p:sp>
      <p:sp>
        <p:nvSpPr>
          <p:cNvPr id="17" name="Text 15"/>
          <p:cNvSpPr/>
          <p:nvPr/>
        </p:nvSpPr>
        <p:spPr>
          <a:xfrm>
            <a:off x="822960" y="5321808"/>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목표</a:t>
            </a:r>
            <a:endParaRPr lang="en-US" sz="1100" dirty="0"/>
          </a:p>
        </p:txBody>
      </p:sp>
      <p:sp>
        <p:nvSpPr>
          <p:cNvPr id="18" name="Text 16"/>
          <p:cNvSpPr/>
          <p:nvPr/>
        </p:nvSpPr>
        <p:spPr>
          <a:xfrm>
            <a:off x="3108960" y="5285232"/>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근거 있는 경영 시뮬레이션과 의사결정</a:t>
            </a:r>
            <a:endParaRPr lang="en-US" sz="1500" dirty="0"/>
          </a:p>
        </p:txBody>
      </p:sp>
      <p:sp>
        <p:nvSpPr>
          <p:cNvPr id="19" name="Text 17"/>
          <p:cNvSpPr/>
          <p:nvPr/>
        </p:nvSpPr>
        <p:spPr>
          <a:xfrm>
            <a:off x="749808" y="6199632"/>
            <a:ext cx="10561320" cy="237744"/>
          </a:xfrm>
          <a:prstGeom prst="rect">
            <a:avLst/>
          </a:prstGeom>
          <a:noFill/>
          <a:ln/>
        </p:spPr>
        <p:txBody>
          <a:bodyPr wrap="square" lIns="762" tIns="762" rIns="762" bIns="762" rtlCol="0" anchor="ctr">
            <a:normAutofit/>
          </a:bodyPr>
          <a:lstStyle/>
          <a:p>
            <a:pPr algn="ctr" indent="0" marL="0">
              <a:buNone/>
            </a:pPr>
            <a:r>
              <a:rPr lang="en-US" sz="1400" b="1" dirty="0">
                <a:solidFill>
                  <a:srgbClr val="6DE0D1"/>
                </a:solidFill>
                <a:latin typeface="Arial" pitchFamily="34" charset="0"/>
                <a:ea typeface="Arial" pitchFamily="34" charset="-122"/>
                <a:cs typeface="Arial" pitchFamily="34" charset="-120"/>
              </a:rPr>
              <a:t>Next decision: 첫 Pilot 가치흐름·참여 부서·데이터 오너·핵심 KPI를 확정한다.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Factory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Factory Studio Enterprise Digital Twin To-Be</dc:title>
  <dc:subject>기업 경영 디지털트윈 To-Be 이미지와 실제 구현 기능</dc:subject>
  <dc:creator>AI Factory Studio 공동 설계팀</dc:creator>
  <cp:lastModifiedBy>AI Factory Studio 공동 설계팀</cp:lastModifiedBy>
  <cp:revision>1</cp:revision>
  <dcterms:created xsi:type="dcterms:W3CDTF">2026-07-27T04:21:08Z</dcterms:created>
  <dcterms:modified xsi:type="dcterms:W3CDTF">2026-07-27T04:21:08Z</dcterms:modified>
</cp:coreProperties>
</file>