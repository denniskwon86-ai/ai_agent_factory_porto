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SIOP × AI 활용 방안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2971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9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규칙과 통계로 시작한 SIOP가, 데이터가 쌓이면 어디까지 똑똑해질 수 있는가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5394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8F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SIOP To-Be 이미지 제안의 부속 문서  |  의사결정·실행준비 담당자용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0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전제: ISP 고도화 트랙(Phase 3) · TeraOne 학습기반 승격 · 신뢰 데이터 축적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 요약 — AI는 SIOP의 어디에 붙는가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별도 시스템이 아니라, SIOP의 6개 지점을 '더 똑똑하게' 바꾸는 업그레이드입니다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1316736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88900" dist="25400" dir="3600000">
              <a:srgbClr val="9AB0C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591056"/>
            <a:ext cx="512064" cy="512064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910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81328" y="1316736"/>
            <a:ext cx="9966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예측이 좋아집니다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481328" y="1755648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통계예측(ARIMA)을 ML로 교체 — 시황·계절성·고객 발주 패턴 등 외부 변수를 함께 학습해 MAPE를 추가로 낮춥니다.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670048"/>
            <a:ext cx="11064240" cy="1316736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88900" dist="25400" dir="3600000">
              <a:srgbClr val="9AB0C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072384"/>
            <a:ext cx="512064" cy="512064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0723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81328" y="2798064"/>
            <a:ext cx="9966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권고가 생깁니다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481328" y="3236976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'ROP에 도달했다'(알림)를 넘어 '지금 이 수량을 이 시점에 사는 것이 최적'(처방)까지 — 사람의 승인은 그대로 유지합니다.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151376"/>
            <a:ext cx="11064240" cy="1316736"/>
          </a:xfrm>
          <a:prstGeom prst="roundRect">
            <a:avLst>
              <a:gd name="adj" fmla="val 4861"/>
            </a:avLst>
          </a:prstGeom>
          <a:solidFill>
            <a:srgbClr val="EDE3F5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88900" dist="25400" dir="3600000">
              <a:srgbClr val="9AB0C8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553712"/>
            <a:ext cx="512064" cy="512064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5537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81328" y="4279392"/>
            <a:ext cx="9966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대화로 물을 수 있게 됩니다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481328" y="4718304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 어시스턴트가 회의 브리핑을 자동 작성하고, 'CoSO4 3주차 부족 원인이 뭐야?'에 데이터 근거로 답합니다.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58704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AI 적용은 SIOP 가동(통계 기반) 후 데이터 축적을 전제로 합니다 — 순서를 건너뛰면 효과가 제한됩니다.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적용 영역 맵 — 6개 지점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SIOP 기능 체계 위에 AI가 얹히는 자리 (A1~A6)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30752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88900" dist="25400" dir="3600000">
              <a:srgbClr val="9AB0C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36192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53619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508760" y="1499616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 수요예측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13232" y="2029968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 → 기계학습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3232" y="315468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31546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수요계획(Week 1)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462272" y="1371600"/>
            <a:ext cx="3730752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88900" dist="25400" dir="3600000">
              <a:srgbClr val="9AB0C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26864" y="1536192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6864" y="153619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22392" y="1499616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순도 예측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626864" y="2029968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원료성분 → 완제품 품질 사전 예측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26864" y="315468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31546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공급·품질 연계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375904" y="1371600"/>
            <a:ext cx="3730752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88900" dist="25400" dir="3600000">
              <a:srgbClr val="9AB0C8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540496" y="1536192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40496" y="153619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336024" y="1499616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재고·발주 최적화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540496" y="2029968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처방적(prescriptive) 발주 권고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540496" y="315468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40496" y="31546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재고·구매(Week 2)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8640" y="3840480"/>
            <a:ext cx="3730752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88900" dist="25400" dir="3600000">
              <a:srgbClr val="9AB0C8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13232" y="4005072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400507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508760" y="3968496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예지보전 (PdM)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13232" y="4498848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고장 사전 예측 → 공급계획 반영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13232" y="562356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56235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설비·공급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462272" y="3840480"/>
            <a:ext cx="3730752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88900" dist="25400" dir="3600000">
              <a:srgbClr val="9AB0C8">
                <a:alpha val="2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26864" y="4005072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26864" y="400507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22392" y="3968496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 어시스턴트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4626864" y="4498848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 브리핑·자연어 질의·회의록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26864" y="562356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26864" y="56235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사이클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375904" y="3840480"/>
            <a:ext cx="3730752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88900" dist="25400" dir="3600000">
              <a:srgbClr val="9AB0C8">
                <a:alpha val="2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540496" y="4005072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40496" y="400507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A6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336024" y="3968496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이상감지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8540496" y="4498848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 데이터·공정값 이상 자동 탐지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540496" y="562356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DEEAF6"/>
          </a:solidFill>
          <a:ln w="12700">
            <a:solidFill>
              <a:srgbClr val="DEEA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40496" y="56235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품질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 — ML 수요예측 — 통계를 넘어서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달라지나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286000" y="1051560"/>
            <a:ext cx="932688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88900" dist="25400" dir="3600000">
              <a:srgbClr val="9AB0C8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487168" y="1124712"/>
            <a:ext cx="8915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모델이 ARIMA(자기 과거만 학습)에서 ML(외부 변수 동시 학습)로 교체됩니다. 화면(M2)은 그대로, 뒤의 엔진만 바뀝니다.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542032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5420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동작하나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0" y="2221992"/>
            <a:ext cx="932688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88900" dist="25400" dir="3600000">
              <a:srgbClr val="9AB0C8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87168" y="2295144"/>
            <a:ext cx="8915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TeraOne에 축적된 출하실적 + LME 시황 + 고객 발주 패턴 + 계절성·전방 EV 지표를 학습. 매월 재학습하며, 예측 근거(어떤 변수가 영향을 줬는지)를 함께 표시합니다.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712464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71246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0" y="3392424"/>
            <a:ext cx="9326880" cy="1024128"/>
          </a:xfrm>
          <a:prstGeom prst="roundRect">
            <a:avLst>
              <a:gd name="adj" fmla="val 6250"/>
            </a:avLst>
          </a:prstGeom>
          <a:solidFill>
            <a:srgbClr val="E2EFDA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88900" dist="25400" dir="3600000">
              <a:srgbClr val="9AB0C8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487168" y="3465576"/>
            <a:ext cx="8915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MAPE 추가 개선(통계 대비 상대 개선 — 게이트 방식으로 합의), 급변 구간 대응력 향상, 오버라이드 필요 빈도 감소. 특히 주간 납입지시(call-off) 변동의 단기 예측이 가능해져 주간 실행회의(S&amp;OE)의 선제 대응력이 올라갑니다.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882896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88289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전제 조건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0" y="4562856"/>
            <a:ext cx="9326880" cy="1024128"/>
          </a:xfrm>
          <a:prstGeom prst="roundRect">
            <a:avLst>
              <a:gd name="adj" fmla="val 6250"/>
            </a:avLst>
          </a:prstGeom>
          <a:solidFill>
            <a:srgbClr val="FCE4D6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88900" dist="25400" dir="3600000">
              <a:srgbClr val="9AB0C8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487168" y="4636008"/>
            <a:ext cx="8915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12개월 이상의 정합성 있는 실적 데이터, TeraOne 학습기반 승격(ISP Phase 3), MAPE 게이트: ML이 통계보다 우수함을 3개월 연속 입증해야 교체.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806440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EDE3F5"/>
          </a:solidFill>
          <a:ln w="12700">
            <a:solidFill>
              <a:srgbClr val="7030A0"/>
            </a:solidFill>
            <a:prstDash val="solid"/>
          </a:ln>
          <a:effectLst>
            <a:outerShdw sx="100000" sy="100000" kx="0" ky="0" algn="bl" rotWithShape="0" blurRad="88900" dist="25400" dir="3600000">
              <a:srgbClr val="9AB0C8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580644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B2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판단 기준 — 'ML이 항상 낫다'가 아니라, 게이트를 통과할 때만 교체합니다. 통과 못하면 통계 유지가 정답입니다.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 — 순도 예측 — 품질을 미리 봅니다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달라지나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286000" y="1051560"/>
            <a:ext cx="932688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88900" dist="25400" dir="3600000">
              <a:srgbClr val="9AB0C8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487168" y="1124712"/>
            <a:ext cx="8915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원료 입고 시점의 ICP 성분 데이터로 '이 원료로 만들면 완제품 순도가 규격에 들 확률'을 사전에 예측합니다.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542032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5420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동작하나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0" y="2221992"/>
            <a:ext cx="932688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88900" dist="25400" dir="3600000">
              <a:srgbClr val="9AB0C8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87168" y="2295144"/>
            <a:ext cx="8915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원료 성분(불순물 프로파일) → 공정 파라미터 → 완제품 ICP 결과의 인과 관계를 배치 이력으로 학습. 위험 원료 Lot에는 레시피 보정(산농도·체류시간)을 사전 제안합니다.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712464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71246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0" y="3392424"/>
            <a:ext cx="9326880" cy="1024128"/>
          </a:xfrm>
          <a:prstGeom prst="roundRect">
            <a:avLst>
              <a:gd name="adj" fmla="val 6250"/>
            </a:avLst>
          </a:prstGeom>
          <a:solidFill>
            <a:srgbClr val="E2EFDA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88900" dist="25400" dir="3600000">
              <a:srgbClr val="9AB0C8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487168" y="3465576"/>
            <a:ext cx="8915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규격 미달 배치 발생률 저감(사후 폐기 → 사전 보정), 원료 Lot별 품질 리스크 등급화로 구매 협상 근거 확보, SIOP 공급계획의 수율 가정 정밀화.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882896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88289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전제 조건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0" y="4562856"/>
            <a:ext cx="9326880" cy="1024128"/>
          </a:xfrm>
          <a:prstGeom prst="roundRect">
            <a:avLst>
              <a:gd name="adj" fmla="val 6250"/>
            </a:avLst>
          </a:prstGeom>
          <a:solidFill>
            <a:srgbClr val="FCE4D6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88900" dist="25400" dir="3600000">
              <a:srgbClr val="9AB0C8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487168" y="4636008"/>
            <a:ext cx="8915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LAS→MES→SAP QM 데이터 계보(기구축) + 공정 파라미터 시계열(TeraOne), 배치 수백 건 이상의 학습 데이터, 공정 전문가의 인과 검증 참여.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806440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EDE3F5"/>
          </a:solidFill>
          <a:ln w="12700">
            <a:solidFill>
              <a:srgbClr val="7030A0"/>
            </a:solidFill>
            <a:prstDash val="solid"/>
          </a:ln>
          <a:effectLst>
            <a:outerShdw sx="100000" sy="100000" kx="0" ky="0" algn="bl" rotWithShape="0" blurRad="88900" dist="25400" dir="3600000">
              <a:srgbClr val="9AB0C8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580644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B2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SIOP 연결점 — 예측 수율이 좋아지면 CTP·Safety Capacity가 정밀해져 '지킬 수 있는 납기 약속'의 품질이 올라갑니다.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 — 재고·발주 최적화 — 알림에서 처방으로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달라지나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286000" y="1051560"/>
            <a:ext cx="932688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88900" dist="25400" dir="3600000">
              <a:srgbClr val="9AB0C8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487168" y="1124712"/>
            <a:ext cx="8915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ROP 알람(임계 도달 통보)이 '최적 발주 권고'(수량·시점·공급처까지 제안)로 진화합니다. 승인 절차는 그대로 유지됩니다.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542032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5420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동작하나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0" y="2221992"/>
            <a:ext cx="932688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88900" dist="25400" dir="3600000">
              <a:srgbClr val="9AB0C8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87168" y="2295144"/>
            <a:ext cx="8915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수요예측 분포 + 리드타임 변동 + LME 시황 전망 + Holding Cost를 함께 고려한 확률적 최적화. '지금 150t' vs '2주 후 100t' 같은 대안의 총비용을 비교해 제시합니다.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712464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71246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0" y="3392424"/>
            <a:ext cx="9326880" cy="1024128"/>
          </a:xfrm>
          <a:prstGeom prst="roundRect">
            <a:avLst>
              <a:gd name="adj" fmla="val 6250"/>
            </a:avLst>
          </a:prstGeom>
          <a:solidFill>
            <a:srgbClr val="E2EFDA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88900" dist="25400" dir="3600000">
              <a:srgbClr val="9AB0C8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487168" y="3465576"/>
            <a:ext cx="8915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안전재고의 과소·과대 양쪽 손실 축소, 시황 급변기 대응(가격 상승 전 선구매 권고 등), 긴급발주율 추가 감소.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882896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88289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전제 조건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0" y="4562856"/>
            <a:ext cx="9326880" cy="1024128"/>
          </a:xfrm>
          <a:prstGeom prst="roundRect">
            <a:avLst>
              <a:gd name="adj" fmla="val 6250"/>
            </a:avLst>
          </a:prstGeom>
          <a:solidFill>
            <a:srgbClr val="FCE4D6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88900" dist="25400" dir="3600000">
              <a:srgbClr val="9AB0C8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487168" y="4636008"/>
            <a:ext cx="8915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A1(ML 예측) 선행, ROP 운영 데이터 6개월+, 권고-실제 선택의 차이를 기록해 모델 개선(사람의 선택이 학습 데이터가 됨).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806440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EDE3F5"/>
          </a:solidFill>
          <a:ln w="12700">
            <a:solidFill>
              <a:srgbClr val="7030A0"/>
            </a:solidFill>
            <a:prstDash val="solid"/>
          </a:ln>
          <a:effectLst>
            <a:outerShdw sx="100000" sy="100000" kx="0" ky="0" algn="bl" rotWithShape="0" blurRad="88900" dist="25400" dir="3600000">
              <a:srgbClr val="9AB0C8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580644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B2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안전장치 — 권고는 참고, 발주는 승인. 시황 모델의 오권고 리스크(R-04)는 '참고용 명시 + 재무 최종 판단' 원칙으로 통제합니다.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 — 예지보전(PdM) — 고장을 공급계획이 미리 압니다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달라지나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286000" y="1051560"/>
            <a:ext cx="932688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88900" dist="25400" dir="3600000">
              <a:srgbClr val="9AB0C8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487168" y="1124712"/>
            <a:ext cx="8915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원심분리기·펌프·교반기의 '고장 예상 알림'이 SIOP 공급계획에 자동 반영됩니다 — 설비 문제가 납기 문제가 되기 전에.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542032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5420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동작하나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0" y="2221992"/>
            <a:ext cx="932688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88900" dist="25400" dir="3600000">
              <a:srgbClr val="9AB0C8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87168" y="2295144"/>
            <a:ext cx="8915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진동·전류 신호의 이상 패턴을 학습해 잔여수명(RUL)을 추정. 위험 설비는 MAXIMO 작업요청(WO) 초안 생성 + SIOP 가용성 제약에 반영됩니다.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712464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71246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0" y="3392424"/>
            <a:ext cx="9326880" cy="1024128"/>
          </a:xfrm>
          <a:prstGeom prst="roundRect">
            <a:avLst>
              <a:gd name="adj" fmla="val 6250"/>
            </a:avLst>
          </a:prstGeom>
          <a:solidFill>
            <a:srgbClr val="E2EFDA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88900" dist="25400" dir="3600000">
              <a:srgbClr val="9AB0C8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487168" y="3465576"/>
            <a:ext cx="8915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비계획 정지 감소(참조모델 추정 약 30%), 정비를 수요 낮은 주로 계획 이동, Gap 분석(M8)의 '돌발 원인' 자체가 줄어듦.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882896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88289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전제 조건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0" y="4562856"/>
            <a:ext cx="9326880" cy="1024128"/>
          </a:xfrm>
          <a:prstGeom prst="roundRect">
            <a:avLst>
              <a:gd name="adj" fmla="val 6250"/>
            </a:avLst>
          </a:prstGeom>
          <a:solidFill>
            <a:srgbClr val="FCE4D6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88900" dist="25400" dir="3600000">
              <a:srgbClr val="9AB0C8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487168" y="4636008"/>
            <a:ext cx="8915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회전기기 진동·전류 센서 및 수집 파이프라인(ISP Phase 3 과제), 고장 이력 라벨링, 설비팀-SCM 간 알림 대응 프로세스.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806440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EDE3F5"/>
          </a:solidFill>
          <a:ln w="12700">
            <a:solidFill>
              <a:srgbClr val="7030A0"/>
            </a:solidFill>
            <a:prstDash val="solid"/>
          </a:ln>
          <a:effectLst>
            <a:outerShdw sx="100000" sy="100000" kx="0" ky="0" algn="bl" rotWithShape="0" blurRad="88900" dist="25400" dir="3600000">
              <a:srgbClr val="9AB0C8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580644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B2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SIOP 연결점 — PdM은 설비 과제이지만, 그 산출물(가용성 예측)이 흘러드는 곳이 SIOP입니다. 따로 가면 효과가 반감됩니다.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 — 생성형 AI 어시스턴트 — 회의와 질문이 가벼워집니다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달라지나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286000" y="1051560"/>
            <a:ext cx="932688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88900" dist="25400" dir="3600000">
              <a:srgbClr val="9AB0C8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487168" y="1124712"/>
            <a:ext cx="8915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 계층마다 브리핑이 자동으로 준비됩니다 — 월간 Exec SIOP 브리핑, 주간 실행회의(S&amp;OE)용 '지난주 편차·금주 리스크' 요약, 일간 알림 다이제스트. 화면 어디서든 자연어로 질문할 수 있고, 회의록·액션 초안도 자동 생성됩니다.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542032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5420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동작하나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0" y="2221992"/>
            <a:ext cx="932688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88900" dist="25400" dir="3600000">
              <a:srgbClr val="9AB0C8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87168" y="2295144"/>
            <a:ext cx="8915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SIOP의 확정 데이터(수급·재고·KPI·결정 이력)만을 근거로 답변을 생성하고, 모든 답에 출처 화면·수치 링크를 붙입니다. 근거 없는 답변은 '데이터 없음'으로 응답하게 설계합니다.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712464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71246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0" y="3392424"/>
            <a:ext cx="9326880" cy="1024128"/>
          </a:xfrm>
          <a:prstGeom prst="roundRect">
            <a:avLst>
              <a:gd name="adj" fmla="val 6250"/>
            </a:avLst>
          </a:prstGeom>
          <a:solidFill>
            <a:srgbClr val="E2EFDA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88900" dist="25400" dir="3600000">
              <a:srgbClr val="9AB0C8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487168" y="3465576"/>
            <a:ext cx="8915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 준비 공수 대폭 절감, 경영진·현업의 시스템 진입장벽 하락(화면 탐색 대신 질문), 결정 이력 검색('작년 니켈 급등 때 우리는 어떻게 결정했지?')이 즉시 가능.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882896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88289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전제 조건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0" y="4562856"/>
            <a:ext cx="9326880" cy="1024128"/>
          </a:xfrm>
          <a:prstGeom prst="roundRect">
            <a:avLst>
              <a:gd name="adj" fmla="val 6250"/>
            </a:avLst>
          </a:prstGeom>
          <a:solidFill>
            <a:srgbClr val="FCE4D6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88900" dist="25400" dir="3600000">
              <a:srgbClr val="9AB0C8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487168" y="4636008"/>
            <a:ext cx="8915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데이터 보안 정책 준수(외부 LLM 사용 시 데이터 반출 검토 또는 사내 구축형), 답변-출처 강제 연결(할루시네이션 통제), 민감 정보 권한 연동.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806440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EDE3F5"/>
          </a:solidFill>
          <a:ln w="12700">
            <a:solidFill>
              <a:srgbClr val="7030A0"/>
            </a:solidFill>
            <a:prstDash val="solid"/>
          </a:ln>
          <a:effectLst>
            <a:outerShdw sx="100000" sy="100000" kx="0" ky="0" algn="bl" rotWithShape="0" blurRad="88900" dist="25400" dir="3600000">
              <a:srgbClr val="9AB0C8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580644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B2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정직한 한계 — 어시스턴트는 '데이터를 요약·검색'합니다. 판단하지 않으며, 출처 없는 답을 하지 않도록 설계 단계에서 강제합니다.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A6 — 데이터 이상감지 — 신뢰를 지키는 파수꾼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달라지나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286000" y="1051560"/>
            <a:ext cx="932688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88900" dist="25400" dir="3600000">
              <a:srgbClr val="9AB0C8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487168" y="1124712"/>
            <a:ext cx="8915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잘못된 데이터가 계획에 들어가기 전에 걸러집니다 — '재고가 갑자기 0', '수율 150%' 같은 이상치가 자동 격리·통보됩니다.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542032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5420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동작하나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0" y="2221992"/>
            <a:ext cx="932688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88900" dist="25400" dir="3600000">
              <a:srgbClr val="9AB0C8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87168" y="2295144"/>
            <a:ext cx="8915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IF별 데이터 분포를 학습해 통계적 이상(급변·결측·중복·단위 오류)을 실시간 탐지. 이상 데이터는 계획 반영을 보류하고 담당자 확인 후 처리합니다.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712464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71246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0" y="3392424"/>
            <a:ext cx="9326880" cy="1024128"/>
          </a:xfrm>
          <a:prstGeom prst="roundRect">
            <a:avLst>
              <a:gd name="adj" fmla="val 6250"/>
            </a:avLst>
          </a:prstGeom>
          <a:solidFill>
            <a:srgbClr val="E2EFDA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88900" dist="25400" dir="3600000">
              <a:srgbClr val="9AB0C8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487168" y="3465576"/>
            <a:ext cx="8915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'쓰레기가 들어가 쓰레기가 나오는' 사고 예방, IF 정합성 KPI(M9) 상시 관리 자동화, AI 예측(A1~A3)의 학습 데이터 품질 보증.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882896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88289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전제 조건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0" y="4562856"/>
            <a:ext cx="9326880" cy="1024128"/>
          </a:xfrm>
          <a:prstGeom prst="roundRect">
            <a:avLst>
              <a:gd name="adj" fmla="val 6250"/>
            </a:avLst>
          </a:prstGeom>
          <a:solidFill>
            <a:srgbClr val="FCE4D6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88900" dist="25400" dir="3600000">
              <a:srgbClr val="9AB0C8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487168" y="4636008"/>
            <a:ext cx="8915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IF-S1~S9 가동 후 정상 분포 학습 기간(2~3개월), 이상 처리 담당·절차(운영 R&amp;R) 지정.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806440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EDE3F5"/>
          </a:solidFill>
          <a:ln w="12700">
            <a:solidFill>
              <a:srgbClr val="7030A0"/>
            </a:solidFill>
            <a:prstDash val="solid"/>
          </a:ln>
          <a:effectLst>
            <a:outerShdw sx="100000" sy="100000" kx="0" ky="0" algn="bl" rotWithShape="0" blurRad="88900" dist="25400" dir="3600000">
              <a:srgbClr val="9AB0C8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580644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B2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 제언 — A6은 화려하지 않지만 가장 먼저 켜야 하는 AI입니다. 다른 모든 AI의 품질이 여기에 달려 있습니다.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목업 — 생성형 AI 어시스턴트 (A5)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자연어로 묻고, 근거 화면으로 답합니다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732520" y="274320"/>
            <a:ext cx="2971800" cy="292608"/>
          </a:xfrm>
          <a:prstGeom prst="roundRect">
            <a:avLst>
              <a:gd name="adj" fmla="val 50000"/>
            </a:avLst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27432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이미지 — 실제 화면은 솔루션 선정 후 확정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170432"/>
            <a:ext cx="11155680" cy="5349240"/>
          </a:xfrm>
          <a:prstGeom prst="roundRect">
            <a:avLst>
              <a:gd name="adj" fmla="val 1197"/>
            </a:avLst>
          </a:prstGeom>
          <a:solidFill>
            <a:srgbClr val="FFFFFF"/>
          </a:solidFill>
          <a:ln w="15875">
            <a:solidFill>
              <a:srgbClr val="C7D5E5"/>
            </a:solidFill>
            <a:prstDash val="solid"/>
          </a:ln>
          <a:effectLst>
            <a:outerShdw sx="100000" sy="100000" kx="0" ky="0" algn="bl" rotWithShape="0" blurRad="88900" dist="25400" dir="3600000">
              <a:srgbClr val="9AB0C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170432"/>
            <a:ext cx="11155680" cy="457200"/>
          </a:xfrm>
          <a:prstGeom prst="roundRect">
            <a:avLst>
              <a:gd name="adj" fmla="val 14000"/>
            </a:avLst>
          </a:prstGeom>
          <a:solidFill>
            <a:srgbClr val="EDF3FA"/>
          </a:solidFill>
          <a:ln w="12700">
            <a:solidFill>
              <a:srgbClr val="C7D5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335024"/>
            <a:ext cx="128016" cy="128016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2688" y="1335024"/>
            <a:ext cx="128016" cy="128016"/>
          </a:xfrm>
          <a:prstGeom prst="ellipse">
            <a:avLst/>
          </a:prstGeom>
          <a:solidFill>
            <a:srgbClr val="BF8F00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856" y="1335024"/>
            <a:ext cx="128016" cy="128016"/>
          </a:xfrm>
          <a:prstGeom prst="ellipse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11704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SIOP  ›  AI 어시스턴트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60720" y="1828800"/>
            <a:ext cx="5486400" cy="566928"/>
          </a:xfrm>
          <a:prstGeom prst="roundRect">
            <a:avLst>
              <a:gd name="adj" fmla="val 19355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182880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CoSO4 3주차 공급 부족 20t의 원인이 뭐야?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68680" y="2606040"/>
            <a:ext cx="7863840" cy="1600200"/>
          </a:xfrm>
          <a:prstGeom prst="roundRect">
            <a:avLst>
              <a:gd name="adj" fmla="val 6857"/>
            </a:avLst>
          </a:prstGeom>
          <a:solidFill>
            <a:srgbClr val="EDE3F5"/>
          </a:solidFill>
          <a:ln w="9525">
            <a:solidFill>
              <a:srgbClr val="7030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2724912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2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라인2 예방보전(PM #WO-1182, 7/21~23)과 수요 증가(+7t, A셀 오버라이드)가 겹친 것이 원인입니다. </a:t>
            </a:r>
            <a:pPr indent="0" marL="0">
              <a:buNone/>
            </a:pPr>
            <a:r>
              <a:rPr lang="en-US" sz="1050" dirty="0">
                <a:solidFill>
                  <a:srgbClr val="3A2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해소 대안 2건이 M8 화면에 준비되어 있습니다 — ①PM 1주 연기(설비팀 협의) ②라인1 전환생산(세정 8h).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51560" y="3703320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37033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03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수급 Gap(M8)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46120" y="3703320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37033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03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MAXIMO WO-1182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623560" y="370332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23560" y="37033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03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수요 오버라이드 이력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760720" y="4434840"/>
            <a:ext cx="5486400" cy="566928"/>
          </a:xfrm>
          <a:prstGeom prst="roundRect">
            <a:avLst>
              <a:gd name="adj" fmla="val 19355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443484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사이클 브리핑 초안 만들어줘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68680" y="5166360"/>
            <a:ext cx="7863840" cy="1051560"/>
          </a:xfrm>
          <a:prstGeom prst="roundRect">
            <a:avLst>
              <a:gd name="adj" fmla="val 10435"/>
            </a:avLst>
          </a:prstGeom>
          <a:solidFill>
            <a:srgbClr val="EDE3F5"/>
          </a:solidFill>
          <a:ln w="9525">
            <a:solidFill>
              <a:srgbClr val="7030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1560" y="525780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2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 SIOP 브리핑 초안이 생성되었습니다 — 결정 대기 3건(PR 승인 2, Gap 대안 1), KPI 하이라이트(MAPE 11.8% 개선 추세), 지난 결정 이행률 91%. [문서 열기]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006840" y="2606040"/>
            <a:ext cx="2377440" cy="3611880"/>
          </a:xfrm>
          <a:prstGeom prst="roundRect">
            <a:avLst>
              <a:gd name="adj" fmla="val 2692"/>
            </a:avLst>
          </a:prstGeom>
          <a:solidFill>
            <a:srgbClr val="DEEAF6"/>
          </a:solidFill>
          <a:ln w="12700">
            <a:solidFill>
              <a:srgbClr val="B9CFEA"/>
            </a:solidFill>
            <a:prstDash val="solid"/>
          </a:ln>
          <a:effectLst>
            <a:outerShdw sx="100000" sy="100000" kx="0" ky="0" algn="bl" rotWithShape="0" blurRad="88900" dist="25400" dir="3600000">
              <a:srgbClr val="9AB0C8">
                <a:alpha val="2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144000" y="2743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원칙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144000" y="3063240"/>
            <a:ext cx="2103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3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데이터만 근거로 사용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3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답변에 출처 링크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3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없으면 '데이터 없음'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3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밖 정보 차단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더 좋아지는가 — 규칙·통계 vs AI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SIOP(1~2단계)의 성과 위에, AI(3~4단계)가 얹는 추가분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371600" cy="402336"/>
          </a:xfrm>
          <a:prstGeom prst="rect">
            <a:avLst/>
          </a:prstGeom>
          <a:solidFill>
            <a:srgbClr val="EDF3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3444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영역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920240" y="1234440"/>
            <a:ext cx="4023360" cy="402336"/>
          </a:xfrm>
          <a:prstGeom prst="rect">
            <a:avLst/>
          </a:prstGeom>
          <a:solidFill>
            <a:srgbClr val="EDF3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123444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SIOP (규칙·통계)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0" y="1234440"/>
            <a:ext cx="4846320" cy="402336"/>
          </a:xfrm>
          <a:prstGeom prst="rect">
            <a:avLst/>
          </a:prstGeom>
          <a:solidFill>
            <a:srgbClr val="EDF3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123444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AI (3~4단계)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789920" y="1234440"/>
            <a:ext cx="822960" cy="402336"/>
          </a:xfrm>
          <a:prstGeom prst="rect">
            <a:avLst/>
          </a:prstGeom>
          <a:solidFill>
            <a:srgbClr val="EDF3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0" y="123444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1636776"/>
            <a:ext cx="13716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1636776"/>
            <a:ext cx="1225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수요예측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920240" y="1636776"/>
            <a:ext cx="40233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93392" y="1636776"/>
            <a:ext cx="3877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통계(ARIMA) — 과거 패턴 반복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0" y="1636776"/>
            <a:ext cx="4846320" cy="713232"/>
          </a:xfrm>
          <a:prstGeom prst="rect">
            <a:avLst/>
          </a:prstGeom>
          <a:solidFill>
            <a:srgbClr val="EDE3F5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16752" y="1636776"/>
            <a:ext cx="47000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2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변수 학습 — 급변 대응, MAPE 추가 개선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789920" y="1636776"/>
            <a:ext cx="8229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863072" y="1636776"/>
            <a:ext cx="676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03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2350008"/>
            <a:ext cx="13716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2350008"/>
            <a:ext cx="1225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920240" y="2350008"/>
            <a:ext cx="40233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93392" y="2350008"/>
            <a:ext cx="3877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사후 검사·판정(기구축 자동)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0" y="2350008"/>
            <a:ext cx="4846320" cy="713232"/>
          </a:xfrm>
          <a:prstGeom prst="rect">
            <a:avLst/>
          </a:prstGeom>
          <a:solidFill>
            <a:srgbClr val="EDE3F5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16752" y="2350008"/>
            <a:ext cx="47000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2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순도 예측 — 폐기 전에 보정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789920" y="2350008"/>
            <a:ext cx="8229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863072" y="2350008"/>
            <a:ext cx="676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03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063240"/>
            <a:ext cx="13716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063240"/>
            <a:ext cx="1225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발주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920240" y="3063240"/>
            <a:ext cx="40233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93392" y="3063240"/>
            <a:ext cx="3877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ROP 알림 + 사람 판단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43600" y="3063240"/>
            <a:ext cx="4846320" cy="713232"/>
          </a:xfrm>
          <a:prstGeom prst="rect">
            <a:avLst/>
          </a:prstGeom>
          <a:solidFill>
            <a:srgbClr val="EDE3F5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16752" y="3063240"/>
            <a:ext cx="47000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2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총비용 최적 권고 + 사람 승인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789920" y="3063240"/>
            <a:ext cx="8229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863072" y="3063240"/>
            <a:ext cx="676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03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3776472"/>
            <a:ext cx="13716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" y="3776472"/>
            <a:ext cx="1225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920240" y="3776472"/>
            <a:ext cx="40233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993392" y="3776472"/>
            <a:ext cx="3877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PM 일정 기반 예방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943600" y="3776472"/>
            <a:ext cx="4846320" cy="713232"/>
          </a:xfrm>
          <a:prstGeom prst="rect">
            <a:avLst/>
          </a:prstGeom>
          <a:solidFill>
            <a:srgbClr val="EDE3F5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16752" y="3776472"/>
            <a:ext cx="47000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2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고장 예측 → 공급계획 선반영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0789920" y="3776472"/>
            <a:ext cx="8229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863072" y="3776472"/>
            <a:ext cx="676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03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48640" y="4489704"/>
            <a:ext cx="13716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" y="4489704"/>
            <a:ext cx="1225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회의·질의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920240" y="4489704"/>
            <a:ext cx="40233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993392" y="4489704"/>
            <a:ext cx="3877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탐색·수작업 브리핑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943600" y="4489704"/>
            <a:ext cx="4846320" cy="713232"/>
          </a:xfrm>
          <a:prstGeom prst="rect">
            <a:avLst/>
          </a:prstGeom>
          <a:solidFill>
            <a:srgbClr val="EDE3F5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16752" y="4489704"/>
            <a:ext cx="47000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2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브리핑·자연어 질의(출처 포함)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0789920" y="4489704"/>
            <a:ext cx="8229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863072" y="4489704"/>
            <a:ext cx="676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03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48640" y="5202936"/>
            <a:ext cx="13716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1792" y="5202936"/>
            <a:ext cx="1225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920240" y="5202936"/>
            <a:ext cx="40233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993392" y="5202936"/>
            <a:ext cx="3877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 성공률 사후 모니터링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943600" y="5202936"/>
            <a:ext cx="4846320" cy="713232"/>
          </a:xfrm>
          <a:prstGeom prst="rect">
            <a:avLst/>
          </a:prstGeom>
          <a:solidFill>
            <a:srgbClr val="EDE3F5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016752" y="5202936"/>
            <a:ext cx="47000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25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이상치 실시간 격리 — 계획 오염 방지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10789920" y="5202936"/>
            <a:ext cx="8229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863072" y="5202936"/>
            <a:ext cx="676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03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A6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AI 효과의 정량 목표는 각 유스케이스 '게이트'(예: ML이 통계 대비 우수 3개월 연속) 통과 후 설정 — 사전 확정하지 않습니다.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전제와 리스크 — 정직하게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마법이 아닙니다. 아래 전제가 갖춰질 때만 효과가 납니다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53212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88900" dist="25400" dir="3600000">
              <a:srgbClr val="9AB0C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37360"/>
            <a:ext cx="502920" cy="502920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44752" y="14447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축적이 먼저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444752" y="1828800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SIOP(통계 기반) 12개월+ 운영으로 신뢰 데이터를 쌓은 뒤 AI 전환 — 단계 건너뛰기 금지 (ISP 원칙)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355080" y="1280160"/>
            <a:ext cx="553212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88900" dist="25400" dir="3600000">
              <a:srgbClr val="9AB0C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56248" y="1737360"/>
            <a:ext cx="502920" cy="502920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56248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251192" y="14447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TeraOne 승격 필수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251192" y="1828800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'저장 전용'인 TeraOne을 학습·서빙 기반으로 승격(ISP Phase 3 과제)해야 A1~A3이 가능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907792"/>
            <a:ext cx="553212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88900" dist="25400" dir="3600000">
              <a:srgbClr val="9AB0C8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364992"/>
            <a:ext cx="502920" cy="502920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364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44752" y="30723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 방식 전환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444752" y="3456432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AI는 기존 방식 대비 우수성을 입증(게이트 통과)해야 교체 — 미달 시 기존 방식 유지가 정답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55080" y="2907792"/>
            <a:ext cx="553212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88900" dist="25400" dir="3600000">
              <a:srgbClr val="9AB0C8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56248" y="3364992"/>
            <a:ext cx="502920" cy="502920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56248" y="3364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251192" y="30723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승인 유지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251192" y="3456432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발주·계획 확정 등 실행 결정은 Human-in-the-loop — 완전 무인화는 안전·책임 관점에서 시기상조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535424"/>
            <a:ext cx="553212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88900" dist="25400" dir="3600000">
              <a:srgbClr val="9AB0C8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" y="4992624"/>
            <a:ext cx="502920" cy="502920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4992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444752" y="470001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보안·거버넌스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444752" y="5084064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AI(A5)는 데이터 반출·권한·출처 강제 설계를 선행 — 사내 구축형 우선 검토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55080" y="4535424"/>
            <a:ext cx="553212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88900" dist="25400" dir="3600000">
              <a:srgbClr val="9AB0C8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56248" y="4992624"/>
            <a:ext cx="502920" cy="502920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56248" y="4992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7251192" y="470001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2E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비용의 불확실성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251192" y="5084064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구축·운영비는 데이터 상태와 벤더에 따라 편차가 큼 — PoC 기반 성과연동 계약 권장(신기술 조달 원칙)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B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로드맵과 지금 할 일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C9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ISP 고도화 트랙과 정합 — AI는 별도 프로젝트가 아니라 SIOP 여정의 3~4단계입니다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024128"/>
          </a:xfrm>
          <a:prstGeom prst="roundRect">
            <a:avLst>
              <a:gd name="adj" fmla="val 6250"/>
            </a:avLst>
          </a:prstGeom>
          <a:solidFill>
            <a:srgbClr val="3A2A5E"/>
          </a:solidFill>
          <a:ln w="12700">
            <a:solidFill>
              <a:srgbClr val="55408A"/>
            </a:solidFill>
            <a:prstDash val="solid"/>
          </a:ln>
          <a:effectLst>
            <a:outerShdw sx="100000" sy="100000" kx="0" ky="0" algn="bl" rotWithShape="0" blurRad="88900" dist="25400" dir="3600000">
              <a:srgbClr val="9AB0C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1929384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92938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(SIOP 1~2단계)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11880" y="1856232"/>
            <a:ext cx="74980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D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정합성 확보 · A6 이상감지 우선 가동 · 결정/오버라이드 이력 축적(미래 학습데이터)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22960" y="2953512"/>
            <a:ext cx="10515600" cy="1024128"/>
          </a:xfrm>
          <a:prstGeom prst="roundRect">
            <a:avLst>
              <a:gd name="adj" fmla="val 6250"/>
            </a:avLst>
          </a:prstGeom>
          <a:solidFill>
            <a:srgbClr val="3A2A5E"/>
          </a:solidFill>
          <a:ln w="12700">
            <a:solidFill>
              <a:srgbClr val="55408A"/>
            </a:solidFill>
            <a:prstDash val="solid"/>
          </a:ln>
          <a:effectLst>
            <a:outerShdw sx="100000" sy="100000" kx="0" ky="0" algn="bl" rotWithShape="0" blurRad="88900" dist="25400" dir="3600000">
              <a:srgbClr val="9AB0C8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51560" y="3099816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0998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+12~24개월 (3단계)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11880" y="3026664"/>
            <a:ext cx="74980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D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TeraOne 승격 → A1 ML 예측 게이트 검증 → A5 어시스턴트 파일럿(보안 설계 선행)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" y="4123944"/>
            <a:ext cx="10515600" cy="1024128"/>
          </a:xfrm>
          <a:prstGeom prst="roundRect">
            <a:avLst>
              <a:gd name="adj" fmla="val 6250"/>
            </a:avLst>
          </a:prstGeom>
          <a:solidFill>
            <a:srgbClr val="3A2A5E"/>
          </a:solidFill>
          <a:ln w="12700">
            <a:solidFill>
              <a:srgbClr val="55408A"/>
            </a:solidFill>
            <a:prstDash val="solid"/>
          </a:ln>
          <a:effectLst>
            <a:outerShdw sx="100000" sy="100000" kx="0" ky="0" algn="bl" rotWithShape="0" blurRad="88900" dist="25400" dir="3600000">
              <a:srgbClr val="9AB0C8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51560" y="427024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42702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+24개월~ (4단계)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11880" y="4197096"/>
            <a:ext cx="74980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D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 순도예측·A3 처방 발주·A4 PdM 연계 — 디지털트윈(참조모델 고도화 수준)과 접속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" y="5486400"/>
            <a:ext cx="10515600" cy="914400"/>
          </a:xfrm>
          <a:prstGeom prst="roundRect">
            <a:avLst>
              <a:gd name="adj" fmla="val 7000"/>
            </a:avLst>
          </a:prstGeom>
          <a:solidFill>
            <a:srgbClr val="254D33"/>
          </a:solidFill>
          <a:ln w="12700">
            <a:solidFill>
              <a:srgbClr val="3C6B4C"/>
            </a:solidFill>
            <a:prstDash val="solid"/>
          </a:ln>
          <a:effectLst>
            <a:outerShdw sx="100000" sy="100000" kx="0" ky="0" algn="bl" rotWithShape="0" blurRad="88900" dist="25400" dir="3600000">
              <a:srgbClr val="9AB0C8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51560" y="54864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9D1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결정할 것은 하나 — </a:t>
            </a:r>
            <a:pPr indent="0" marL="0">
              <a:buNone/>
            </a:pPr>
            <a:r>
              <a:rPr lang="en-US" sz="1200" dirty="0">
                <a:solidFill>
                  <a:srgbClr val="E8F3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SIOP 구축 시 '결정·조정 이력을 데이터로 남기는 설계'를 요구사항에 포함하는 것. 이것이 훗날 AI의 학습 재료가 되며, 나중에 소급할 수 없습니다.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SIOP AI 활용 방안</dc:title>
  <dc:subject>PptxGenJS Presentation</dc:subject>
  <dc:creator>IT기획팀</dc:creator>
  <cp:lastModifiedBy>IT기획팀</cp:lastModifiedBy>
  <cp:revision>1</cp:revision>
  <dcterms:created xsi:type="dcterms:W3CDTF">2026-07-08T23:45:26Z</dcterms:created>
  <dcterms:modified xsi:type="dcterms:W3CDTF">2026-07-08T23:45:26Z</dcterms:modified>
</cp:coreProperties>
</file>